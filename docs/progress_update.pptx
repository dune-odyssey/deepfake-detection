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8CF"/>
                </a:solidFill>
                <a:latin typeface="Calibri"/>
              </a:rPr>
              <a:t>AIML COURSE PROJECT · 23AID205 · PROGRESS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Deepfake Detection: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Detectors Invert on Unseen Manipulations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9601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All three planned experiments are now complete. Cross-manipulation testing surfaced detectors scoring below random chance on FaceSwap cells -- not a pipeline bug (audited), and consistent across both architectures. This is now the project's central finding.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424920"/>
            <a:ext cx="457200" cy="2743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039320"/>
            <a:ext cx="1085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E9F0"/>
                </a:solidFill>
                <a:latin typeface="Calibri"/>
              </a:rPr>
              <a:t>Venugopalan Gangadharan · Vipin Sudhakar · Rithvik Arulprakash · Harshith Kv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1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AI &amp; Data Science — Amrita Vishwa Vidyapeetham, Coimbatore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Since the Mid-Review: All Three Experiments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52800" cy="43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0">
                <a:solidFill>
                  <a:srgbClr val="1A202C"/>
                </a:solidFill>
                <a:latin typeface="Calibri"/>
              </a:rPr>
              <a:t>▸  Experiment 1 (baseline, same-distribution) was complete at the mid-review. Experiments 2 (cross-manipulation) and 3 (compression robustness) are now also complete, along with Grad-CAM interpretability and a working live demo.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0">
                <a:solidFill>
                  <a:srgbClr val="1A202C"/>
                </a:solidFill>
                <a:latin typeface="Calibri"/>
              </a:rPr>
              <a:t>▸  The original hypothesis -- that the CNN-ViT hybrid would generalize better than the XceptionNet baseline -- did not hold. Reporting that as an honest negative result rather than reframing the comparison after the fact.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0">
                <a:solidFill>
                  <a:srgbClr val="1A202C"/>
                </a:solidFill>
                <a:latin typeface="Calibri"/>
              </a:rPr>
              <a:t>▸  What did turn up, unexpectedly: several cross-manipulation cells score below random chance (AUC &lt; 0.5), which is a more interesting and more publishable finding than the architecture comparison itself.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0">
                <a:solidFill>
                  <a:srgbClr val="1A202C"/>
                </a:solidFill>
                <a:latin typeface="Calibri"/>
              </a:rPr>
              <a:t>▸  This update covers: the full results, why we're confident it isn't a pipeline artifact, and the research plan now built around it (RESEARCH_BRIEF.md, in the repo).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XceptionNet vs. CNN-ViT (23AID205)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RESULTS · EXPERIMENT 2 —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Cross-Manipulation Generalization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Train on one manipulation method, test on another (and on the same method, diagonal). Color floor is clipped at 0.5 -- printed values below 0.5 are below random chance.</a:t>
            </a:r>
          </a:p>
        </p:txBody>
      </p:sp>
      <p:pic>
        <p:nvPicPr>
          <p:cNvPr id="7" name="Picture 6" descr="cross_manipulation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7132320" cy="2879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2286000"/>
            <a:ext cx="3504895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466000"/>
            <a:ext cx="3047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BELOW-CHANCE 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7860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0.256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126000"/>
            <a:ext cx="3047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Xception worst cell: Deepfakes → FaceSwap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6897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0.198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029700"/>
            <a:ext cx="3047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CNN-ViT worst cell: Deepfakes → FaceSwap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5934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0.398 / 0.421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933400"/>
            <a:ext cx="3047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Generalization gap -- Xception / CNN-ViT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497100"/>
            <a:ext cx="304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7 of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837100"/>
            <a:ext cx="3047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off-diagonal cells ≤ chance -- all involve FaceSwap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XceptionNet vs. CNN-ViT (23AID205)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RESULTS · EXPERIMENT 3 —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Compression Robustness (c23 → c40, proxy)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Official c0/c40 access is still pending -- c40 here is a documented proxy (c23 re-compressed), eval-only, caveated throughout the repo.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41640"/>
          <a:ext cx="1080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2700000"/>
                <a:gridCol w="2700000"/>
                <a:gridCol w="22000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c23 Video AUC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c40proxy Video AUC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AUC Drop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XceptionNet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0.9958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0.8018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-0.194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202C"/>
                          </a:solidFill>
                          <a:latin typeface="Calibri"/>
                        </a:rPr>
                        <a:t>CNN-ViT Hybrid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0.9836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0.8172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02C"/>
                          </a:solidFill>
                          <a:latin typeface="Calibri"/>
                        </a:rPr>
                        <a:t>-0.166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81640"/>
            <a:ext cx="1085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Both models degrade substantially under heavier re-compression; the hybrid's drop is somewhat smaller, but this is on the proxy set, not official c40 -- not being claimed as a general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XceptionNet vs. CNN-ViT (23AID205)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Transfer Failure Tracks the Training Method, Not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20000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3080"/>
            <a:ext cx="374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ARCHITECTURE CORRELATION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3080"/>
            <a:ext cx="37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r = 0.938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3080"/>
            <a:ext cx="374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Pearson correlation, off-diagonal AUC 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86780"/>
            <a:ext cx="37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ρ = 0.951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6780"/>
            <a:ext cx="374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Spearman correlation, same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90480"/>
            <a:ext cx="37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0480"/>
            <a:ext cx="374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off-diagonal cells compared per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94180"/>
            <a:ext cx="37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p &lt;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34180"/>
            <a:ext cx="374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both correlations, analysis/architecture_correlation.py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80" y="1783080"/>
            <a:ext cx="625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▸  XceptionNet (ImageNet-pretrained, purely convolutional) and the CNN-ViT hybrid (trained from scratch, has global self-attention) are architecturally very different -- yet their cross-manipulation failure patterns are nearly identical cell-for-cell.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▸  That means the below-chance scores aren't an architecture quirk. Both models are picking up something from the training manipulation method itself that doesn't transfer -- and in the FaceSwap cells, actively points the wrong way.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▸  This reframes the project: not "which architecture generalizes better" but "why does detection invert on unseen manipulations, and can it be fixed." The second question is the one worth a paper.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XceptionNet vs. CNN-ViT (23AID205)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Grad-CAM: What the Models Actually Attend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Same checkpoint (Deepfakes-trained), same video, different manipulation. In-distribution: both models focus tightly on the face. Cross-manipulation (FaceSwap, never seen): attention collapses off-face or goes diffuse -- neither model falls back to anything sensible.</a:t>
            </a:r>
          </a:p>
        </p:txBody>
      </p:sp>
      <p:pic>
        <p:nvPicPr>
          <p:cNvPr id="7" name="Picture 6" descr="gradca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8686800" cy="489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XceptionNet vs. CNN-ViT (23AID205)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RULING OUT THE BORING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Phase 0: Hygiene Fixes + Confound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52800" cy="43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A202C"/>
                </a:solidFill>
                <a:latin typeface="Calibri"/>
              </a:rPr>
              <a:t>▸  Before treating the below-chance scores as a real finding, fixed two code issues (a training-resume bug that was silently discarding run history; checkpoint files that had been accidentally committed to version control) and audited the pipeline for anything that could trivially cause this.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A202C"/>
                </a:solidFill>
                <a:latin typeface="Calibri"/>
              </a:rPr>
              <a:t>▸  Label/split integrity -- 17/17 checks pass: AUC orientation is correct and not silently invertible; train/val/test are cleanly video-disjoint.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A202C"/>
                </a:solidFill>
                <a:latin typeface="Calibri"/>
              </a:rPr>
              <a:t>▸  Encoding audit (60 videos/class via ffprobe) -- codec, profile, pixel format, and compression setting (crf=23.0) are bit-exact identical across real and all 4 manipulation methods. No confound.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A202C"/>
                </a:solidFill>
                <a:latin typeface="Calibri"/>
              </a:rPr>
              <a:t>▸  Crop audit -- face-detection failure rate negligible (≤0.05%) everywhere; JPEG re-compression is bit-identical across classes. No confound.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0">
                <a:solidFill>
                  <a:srgbClr val="1A202C"/>
                </a:solidFill>
                <a:latin typeface="Calibri"/>
              </a:rPr>
              <a:t>▸  GATE 0 conclusion: no confirmed pipeline artifact explains the below-chance scores. This is very likely a real effect, not a bug -- worth explaining and fixing, not dismissing.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XceptionNet vs. CNN-ViT (23AID205)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NEW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Research Plan: Why Transfer Inverts, and How to Fix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52800" cy="43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▸  Working title: "Inverted Transfer" -- why deepfake detectors score unseen manipulations below chance, and how preprocessing toggles it.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▸  C1 -- Preprocessing sensitivity: does the below-chance pattern shift, possibly across the 0.5 line, under different face-detector/margin/format/alignment choices alone?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▸  C2 -- Mechanism: is there a measurable low-level image statistic (sharpness, boundary contrast, JPEG artifacts) whose sign predicts which transfer cells invert?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▸  C3 -- Intervention: can neutralizing that statistic during training raise the below-chance cells back toward/above 0.5 without a large in-domain accuracy drop?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▸  C4 -- Architecture independence: the r≈0.94 correlation above is the first evidence for this; testing it across more architectures next.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0">
                <a:solidFill>
                  <a:srgbClr val="1A202C"/>
                </a:solidFill>
                <a:latin typeface="Calibri"/>
              </a:rPr>
              <a:t>▸  Target: a 4-6 page paper, IEEE WIFS/ICASSP-style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XceptionNet vs. CNN-ViT (23AID205)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What's Done,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19500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19500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64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646360" cy="33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Experiments 1-3 complete: baseline, full 4×4 cross-manipulation matrix, compression robustness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Grad-CAM interpretability analysis and live demo verified end-to-end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Phase 0 (hygiene + audit) complete -- ruled out a pipeline artifact as the explanation for the below-chance scores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Architecture-independence of the transfer-failure pattern confirmed (r≈0.94 across both models' off-diagonal cells)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3680" y="1783080"/>
            <a:ext cx="519500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63680" y="1783080"/>
            <a:ext cx="519500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8000" y="1901952"/>
            <a:ext cx="464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8000" y="2514600"/>
            <a:ext cx="4646360" cy="33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▸  Phase 1: rebuild preprocessing with a different, standard face-alignment pipeline and retrain -- tests whether the below-chance pattern disappears (preprocessing-driven) or persists (a real inversion mechanism)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▸  Phase 2-3: systematic preprocessing sweep, then pin down the low-level statistic that predicts which cells invert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▸  Phase 4-5: test interventions that fix it, check generalization across more architectures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▸  ~4-week total budget for this phase of work, currently early -- paper write-up targeted by the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XceptionNet vs. CNN-ViT (23AID205)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5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02C"/>
                </a:solidFill>
                <a:latin typeface="Calibri"/>
              </a:rPr>
              <a:t>Where to Follow Along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528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▸  Full research plan, phase-by-phase, with gates: RESEARCH_BRIEF.md in the repo.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▸  Progress log updated after every phase: docs/PROGRESS.md.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▸  Every number in this deck comes from a script-written file under analysis/ or results/ -- reproducible, not hand-typed.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00000"/>
            <a:ext cx="10852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00000"/>
            <a:ext cx="1085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CONTRIBUTORS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40000"/>
            <a:ext cx="108528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A202C"/>
                </a:solidFill>
                <a:latin typeface="Calibri"/>
              </a:rPr>
              <a:t>▸  Venugopalan Gangadharan — CB.AI.U4AID25115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A202C"/>
                </a:solidFill>
                <a:latin typeface="Calibri"/>
              </a:rPr>
              <a:t>▸  Vipin Sudhakar — CB.AI.U4AID25166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A202C"/>
                </a:solidFill>
                <a:latin typeface="Calibri"/>
              </a:rPr>
              <a:t>▸  Rithvik Arulprakash — CB.AI.U4AID25148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A202C"/>
                </a:solidFill>
                <a:latin typeface="Calibri"/>
              </a:rPr>
              <a:t>▸  Harshith Kv — CB.AI.U4AID25119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00000"/>
            <a:ext cx="1085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AI &amp; Data Science — Amrita Vishwa Vidyapeetham, Coimbatore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50000"/>
            <a:ext cx="1085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00000"/>
            <a:ext cx="10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2B8CF"/>
                </a:solidFill>
                <a:latin typeface="Calibri"/>
              </a:rPr>
              <a:t>github.com/DUNE-ODYSSEY/deepfake-detection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XceptionNet vs. CNN-ViT (23AID205)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