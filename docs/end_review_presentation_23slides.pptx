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AIML COURSE PROJECT · 23AID205 · END-SEMESTER REVIEW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 panose="020F0502020204030204"/>
              </a:rPr>
              <a:t>Deepfake Detection on FaceForensics++:</a:t>
            </a:r>
            <a:endParaRPr sz="3200" b="1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3000" b="1">
                <a:solidFill>
                  <a:srgbClr val="FFFFFF"/>
                </a:solidFill>
                <a:latin typeface="Calibri" panose="020F0502020204030204"/>
              </a:rPr>
              <a:t>Why Detectors Score Unseen Fakes Below Chance</a:t>
            </a:r>
            <a:endParaRPr sz="3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 panose="020F0502020204030204"/>
              </a:rPr>
              <a:t>XceptionNet vs. a CNN-ViT hybrid, and a follow-up study of a surprising failure: detectors that rank unseen fakes as more real than real faces.</a:t>
            </a:r>
            <a:endParaRPr sz="14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E9F0"/>
                </a:solidFill>
                <a:latin typeface="Calibri" panose="020F0502020204030204"/>
              </a:rPr>
              <a:t>Venugopalan Gangadharan · Vipin Sudhakar · Rithvik Arulprakash · Harshith Kv</a:t>
            </a:r>
            <a:endParaRPr sz="1300" b="1">
              <a:solidFill>
                <a:srgbClr val="E5E9F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 panose="020F0502020204030204"/>
              </a:rPr>
              <a:t>AI &amp; Data Science — Amrita Vishwa Vidyapeetham, Coimbatore</a:t>
            </a:r>
            <a:endParaRPr sz="11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INTRODUCTION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Motivation, Problem &amp; Objectives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Deepfakes are a real misinformation and fraud risk, but detectors are usually judged on the same manipulation type they were trained on.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Problem: a detector at 99% on its own manipulation can fail badly on a new one, and that failure is invisible until deployment.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Objective 1: compare XceptionNet (CNN) and a CNN-ViT hybrid on identical data and protocol: does self-attention generalize better?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Objective 2: measure same-method accuracy, the 4×4 cross-method matrix and compression robustness; show ROC curves; explain failures with Grad-CAM.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Objective 3 (added after the results): explain why some cross-method scores fall below chance, and test a fix.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2/23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LITERATURE REVIEW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Related Work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 panose="020F0502020204030204"/>
              </a:rPr>
              <a:t>▸  Rössler et al. (ICCV 2019), FaceForensics++: the 4-method benchmark and the XceptionNet baseline (Chollet, CVPR 2017).</a:t>
            </a:r>
            <a:endParaRPr sz="14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 panose="020F0502020204030204"/>
              </a:rPr>
              <a:t>▸  Dosovitskiy et al. (ICLR 2021), Vision Transformer: motivates the hybrid's self-attention. Selvaraju et al. (ICCV 2017), Grad-CAM: our interpretability tool.</a:t>
            </a:r>
            <a:endParaRPr sz="14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 panose="020F0502020204030204"/>
              </a:rPr>
              <a:t>▸  Li et al. (CVPR 2020), Face X-ray: Xception trained on Deepfakes scores 0.49 on FaceSwap with official data, so FaceSwap is already the hardest target.</a:t>
            </a:r>
            <a:endParaRPr sz="14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 panose="020F0502020204030204"/>
              </a:rPr>
              <a:t>▸  Geirhos et al. (Nat. Mach. Intell. 2020), shortcut learning; Durall et al. and Frank et al. (2020), frequency artifacts in generated images.</a:t>
            </a:r>
            <a:endParaRPr sz="14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 panose="020F0502020204030204"/>
              </a:rPr>
              <a:t>▸  Gap: below-chance transfer is reported but not explained per manipulation; we give a measurable cue that predicts which cells invert.</a:t>
            </a:r>
            <a:endParaRPr sz="1400" b="0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3/23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METHODOLOGY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End-to-End Pipeline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1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Raw video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FF++ c23: real + 4 manipulation methods, 5,000 videos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44191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4191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3063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2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3063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Face crops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3063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Original: MTCNN, JPEG. Reference: dlib + alignment, PNG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48302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302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7174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3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7174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Official splits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67174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Video-level train / val / test, no identity leakage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52413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2413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1285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4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1285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Train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1285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One method + real; AMP, early stop; 2–3 seeds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56524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56524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5396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5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75396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Evaluate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75396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Video AUC on all 4 methods, 95% bootstrap CIs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60635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60635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9507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 panose="020F0502020204030204"/>
              </a:rPr>
              <a:t>6</a:t>
            </a:r>
            <a:endParaRPr sz="150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79507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 panose="020F0502020204030204"/>
              </a:rPr>
              <a:t>Analyze</a:t>
            </a:r>
            <a:endParaRPr sz="13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79507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 panose="020F0502020204030204"/>
              </a:rPr>
              <a:t>Image statistics, sign test, intervention, external data</a:t>
            </a:r>
            <a:endParaRPr sz="11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 panose="020F0502020204030204"/>
              </a:rPr>
              <a:t>Every reported number is produced by a script from saved per-video scores; nothing is typed by hand.</a:t>
            </a:r>
            <a:endParaRPr sz="11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4/23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DATASET &amp; PREPROCESSING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Data: Source and Preparation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FaceForensics++: 1,000 real YouTube videos and 4×1,000 manipulated (Deepfakes, Face2Face, FaceSwap, NeuralTextures), c23 compression, official splits.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Source: a public Kaggle mirror (official access is still pending), so all results are labelled preliminary. An audit found no real-vs-fake differences in encoding.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Original crops: MTCNN, 1.3× margin, 20 frames per video, JPEG (~100k crops). Reference crops: dlib + landmark alignment, 256 px PNG, 32 frames (~105k crops).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0">
                <a:solidFill>
                  <a:srgbClr val="1A202C"/>
                </a:solidFill>
                <a:latin typeface="Calibri" panose="020F0502020204030204"/>
              </a:rPr>
              <a:t>▸  External test set: DeepFakeFace (OpenRAIL licence): real IMDB-WIKI photos and fakes from Stable Diffusion and InsightFace, 1,000 sampled per class.</a:t>
            </a:r>
            <a:endParaRPr sz="1500" b="0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5/23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RESULTS · EXPERIMENT 1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Baseline: Same-Distribution Performance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Both models trained and tested on all four manipulation methods (c23).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9848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  <a:gridCol w="2560320"/>
                <a:gridCol w="256032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Video accuracy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Video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Frame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XceptionNet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97.29%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0.996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0.986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CNN-ViT hybrid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94.71%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0.984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0.962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8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 panose="020F0502020204030204"/>
              </a:rPr>
              <a:t>XceptionNet leads on every metric. The hybrid's expected advantage did not appear: a negative result, reported as such.</a:t>
            </a:r>
            <a:endParaRPr sz="12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8/23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RESULTS · EXPERIMENT 2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Cross-Manipulation Generalization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Train on one method, test on all four. Values below 0.5 mean the detector ranks unseen fakes as more real than real faces.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cross_manipulation_heatm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7483449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97849" y="2286000"/>
            <a:ext cx="3153766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6449" y="2466000"/>
            <a:ext cx="2696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OBSERVATIONS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26449" y="2786000"/>
            <a:ext cx="26965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0.26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26449" y="3126000"/>
            <a:ext cx="2696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Xception, Deepfakes → FaceSwap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6449" y="3689700"/>
            <a:ext cx="26965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0.20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26449" y="4029700"/>
            <a:ext cx="2696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CNN-ViT, Deepfakes → FaceSwap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6449" y="4593400"/>
            <a:ext cx="26965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0.40 / 0.42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26449" y="4933400"/>
            <a:ext cx="2696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generalization gap, Xception / hybrid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26449" y="5497100"/>
            <a:ext cx="26965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r = 0.94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26449" y="5837100"/>
            <a:ext cx="2696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the two models fail in the same pattern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9/23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RESULTS · ROC &amp; AUC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ROC Curves: Baseline and Cross-Manipulation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Left: both models, all four methods. Right: Xception trained on Deepfakes; a curve under the diagonal is worse than guessing.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F6_roc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7445828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0228" y="2286000"/>
            <a:ext cx="3191387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88828" y="2466000"/>
            <a:ext cx="27341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AUC (AREA UNDER ROC)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88828" y="2786000"/>
            <a:ext cx="27341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0.996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88828" y="3126000"/>
            <a:ext cx="27341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XceptionNet, all methods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88828" y="3689700"/>
            <a:ext cx="27341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0.984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88828" y="4029700"/>
            <a:ext cx="27341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CNN-ViT hybrid, all methods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88828" y="4593400"/>
            <a:ext cx="27341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1.00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88828" y="4933400"/>
            <a:ext cx="27341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Deepfakes → Deepfakes (seen)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88828" y="5497100"/>
            <a:ext cx="27341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0.24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88828" y="5837100"/>
            <a:ext cx="27341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Deepfakes → FaceSwap: inverted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10/23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RESULTS · EXPERIMENT 3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Compression Robustness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Tested on a c40 proxy (c23 test videos re-compressed); never trained on.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9848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  <a:gridCol w="2743200"/>
                <a:gridCol w="237744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c23 video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c40-proxy video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Drop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XceptionNet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0.996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0.802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-0.194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CNN-ViT hybrid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0.984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0.817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-0.166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8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 panose="020F0502020204030204"/>
              </a:rPr>
              <a:t>Both degrade substantially. The hybrid drops slightly less, but on a proxy, not official c40, so this is not claimed as a general result.</a:t>
            </a:r>
            <a:endParaRPr sz="12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11/23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INTERPRETABILITY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Grad-CAM: What the Models Look At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Same Deepfakes-trained checkpoint, same video: its Deepfakes version vs. its FaceSwap version.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gradcam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5238103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52503" y="2286000"/>
            <a:ext cx="5399112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103" y="24660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READING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1103" y="27860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Face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1103" y="31260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in-distribution: attention on the face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81103" y="36897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Off-face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1103" y="40297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FaceSwap: Xception attention collapses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1103" y="45934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Diffuse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1103" y="49334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FaceSwap: hybrid attention spreads out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1103" y="54971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0.00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1103" y="58371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fake probability on the FaceSwap video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12/23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RESEARCH EXTENSION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From a Surprising Result to Four Testable Claims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 panose="020F0502020204030204"/>
              </a:rPr>
              <a:t>Why do some cross-manipulation cells score below chance? We tested four claims:</a:t>
            </a:r>
            <a:endParaRPr sz="14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30352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C1 · PREPROCESSING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54880" cy="10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Does the inversion depend on how faces are cropped and stored?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5352" y="2148840"/>
            <a:ext cx="530352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148840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C2 · MECHANISM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9672" y="2880360"/>
            <a:ext cx="4754880" cy="10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Is there a measurable image cue whose direction predicts which cells invert?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4297679"/>
            <a:ext cx="530352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97679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C3 · INTERVENTION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029199"/>
            <a:ext cx="4754880" cy="10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Does removing that cue during training reduce the inversion?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45352" y="4297679"/>
            <a:ext cx="530352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4297679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41655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C4 · ARCHITECTURE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9672" y="5029199"/>
            <a:ext cx="4754880" cy="10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Do different network architectures fail the same way?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13/23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C1 · ROBUSTNESS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The Inversion Survives a Full Pipeline Rebuild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Original vs. reference preprocessing (different detector, alignment, format, size, frames). Hatched = below chance.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F1_transfer_matric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7615397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9797" y="2286000"/>
            <a:ext cx="3021818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8397" y="24660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REFERENCE PIPELINE, 3 SEEDS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58397" y="27860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0.26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8397" y="31260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DF → FS  [0.21, 0.31]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58397" y="36897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0.43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58397" y="40297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FS → NT  [0.37, 0.49]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58397" y="45934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0.26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58397" y="49334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DF → FS, original pipeline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58397" y="54971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17 / 17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58397" y="58371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data and label audit checks passed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14/23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C1 · ROBUSTNESS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No Single Preprocessing Change Moves DF → FS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One factor changed at a time, 2 seeds each; change = paired difference vs. the reference over the same test videos.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0704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2011680"/>
                <a:gridCol w="1828800"/>
                <a:gridCol w="201168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Variant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DF → FS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change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FS → NT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change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Reference (3 seeds)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0.258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—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0.428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—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JPEG quality 95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0.286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+0.028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0.442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+0.013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JPEG quality 75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0.290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+0.032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0.472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+0.044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10 frames per video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0.271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+0.013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0.422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-0.006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Tight 1.0× crop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0.259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+0.001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0.470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+0.042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 panose="020F0502020204030204"/>
              </a:rPr>
              <a:t>Predictions were recorded before these results: they held for JPEG 95 and 10 frames, partly missed for JPEG 75, and failed for the tight crop.</a:t>
            </a:r>
            <a:endParaRPr sz="12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15/23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C2 · MECHANISM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Fakes Differ from Real Faces in Sharpness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High-frequency image energy, each manipulation vs. real faces (Cohen's d, 95% CI), in two independent crop sets.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F3_hf_effect_siz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5430438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44838" y="2286000"/>
            <a:ext cx="5206777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3438" y="2466000"/>
            <a:ext cx="47495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EFFECT SIZE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3438" y="2786000"/>
            <a:ext cx="474957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-0.48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73438" y="3126000"/>
            <a:ext cx="47495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Deepfakes: blurrier than real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73438" y="3689700"/>
            <a:ext cx="474957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-0.39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3438" y="4029700"/>
            <a:ext cx="47495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NeuralTextures: blurrier than real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3438" y="4593400"/>
            <a:ext cx="474957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+0.37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73438" y="4933400"/>
            <a:ext cx="47495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FaceSwap: sharper than real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3438" y="5497100"/>
            <a:ext cx="474957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-0.01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3438" y="5837100"/>
            <a:ext cx="474957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Face2Face: no difference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16/23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C2 · MECHANISM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The Sharpness Sign Predicts Which Cells Invert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A detector learns "blurrier = fake" from Deepfakes, so FaceSwap's sharper fakes look real to it.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F4_sign_predi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4677704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92104" y="2286000"/>
            <a:ext cx="5959511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0704" y="24660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PREDICTION VS. OBSERVED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0704" y="27860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ρ = 0.92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20704" y="31260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Xception (best of 24 relabelings)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20704" y="36897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ρ = 0.92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20704" y="40297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CNN-ViT hybrid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20704" y="45934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ρ = 0.73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20704" y="49334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published official-data matrix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20704" y="54971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ρ = -0.27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20704" y="58371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DF model: blurrier real faces look fake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17/23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C3 · INTERVENTION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Randomizing Sharpness Partly Fixes It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Training with random blur/sharpen applied to real and fake alike. Paired change vs. the reference, 3 seeds.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pic>
        <p:nvPicPr>
          <p:cNvPr id="7" name="Picture 6" descr="F5_interv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5080955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95355" y="2286000"/>
            <a:ext cx="555626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955" y="24660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CHANGE IN AUC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3955" y="27860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+0.098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3955" y="31260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DF → FS, now 0.36 (still below)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3955" y="36897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+0.093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3955" y="40297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FS → NT, now 0.52 (at chance)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23955" y="45934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-0.048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3955" y="49334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FS → F2F, a small cost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3955" y="54971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 panose="020F0502020204030204"/>
              </a:rPr>
              <a:t>-0.000</a:t>
            </a:r>
            <a:endParaRPr sz="2200" b="1">
              <a:solidFill>
                <a:srgbClr val="0F172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3955" y="58371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 panose="020F0502020204030204"/>
              </a:rPr>
              <a:t>in-domain accuracy unchanged</a:t>
            </a:r>
            <a:endParaRPr sz="105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18/23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C4 · ARCHITECTURE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Three Architectures Fail the Same Way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ImageNet-pretrained backbones, same 299 px input, reference pipeline.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0704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737360"/>
                <a:gridCol w="1737360"/>
                <a:gridCol w="1737360"/>
                <a:gridCol w="237744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Backbone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DF → FS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FS → NT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FS → DF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Same call as Xception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Xception (3 seeds)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0.258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0.428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0.469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—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ResNet-50 (2 seeds)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0.291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0.416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0.450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8 / 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EfficientNet-B4 (2 seeds)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0.264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0.361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0.477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8 / 8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0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 panose="020F0502020204030204"/>
              </a:rPr>
              <a:t>Same below / at / above-chance result in every cell. The inversion comes from the training data, not the network.</a:t>
            </a:r>
            <a:endParaRPr sz="12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19/23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EXTERNAL CHECK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The Rule Does Not Transfer to a New Dataset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 panose="020F0502020204030204"/>
              </a:rPr>
              <a:t>DeepFakeFace, no retraining. Its fakes are all blurrier than its real faces, so DF-trained should transfer and FS-trained invert.</a:t>
            </a:r>
            <a:endParaRPr sz="1350" b="0">
              <a:solidFill>
                <a:srgbClr val="47556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78992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3108960"/>
                <a:gridCol w="310896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Generator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Sharpness d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DF-trained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FS-trained AUC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SD inpainting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-0.26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0.463 [0.44, 0.49]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0.514 [0.49, 0.54]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InsightFace swap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-0.52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0.654 [0.63, 0.68]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0.491 [0.46, 0.52]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SD text-to-image</a:t>
                      </a:r>
                      <a:endParaRPr sz="1250" b="1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-0.40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0.323 [0.30, 0.34]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 panose="020F0502020204030204"/>
                        </a:rPr>
                        <a:t>0.399 [0.38, 0.42]</a:t>
                      </a:r>
                      <a:endParaRPr sz="1250" b="0">
                        <a:solidFill>
                          <a:srgbClr val="1A202C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0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 panose="020F0502020204030204"/>
              </a:rPr>
              <a:t>Prediction correct in 2 of 4 decided cells, no better than chance. The sharpness account explains FaceForensics++, not other datasets.</a:t>
            </a:r>
            <a:endParaRPr sz="1200" b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20/23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CONCLUSION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Verdict on the Four Claims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C1 · PREPROCESSING — NOT SUPPORTED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Survives every preprocessing change tested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Detector, alignment, format, size, frames, JPEG, crop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C2 · MECHANISM — SUPPORTED IN FF++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Sharpness sign predicts our and published matrices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Fails on DeepFakeFace: within-benchmark only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30352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C3 · INTERVENTION — PARTIAL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Randomizing sharpness: +0.1 AUC on inverted cells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DF → FS still below chance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45352" y="411480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411480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C4 · ARCHITECTURE — SUPPORTED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9672" y="484632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Xception, ResNet-50, EfficientNet-B4 agree 8 / 8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Set by the training data, not the model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21/23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LIMITATIONS &amp; FUTURE WORK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What This Study Cannot Claim, and Next Steps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LIMITATIONS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33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Kaggle mirror, not official FF++ (access pending)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Mechanism is a strong candidate, not proof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Sharpness predicts direction, not effect size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Course comparison confounded by pretraining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One 6 GB laptop GPU limited the grid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0352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303520" cy="5029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FUTURE WORK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754880" cy="33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Re-run on official FaceForensics++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Find the cue behind the remaining DF → FS gap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Explain the DeepFakeFace behaviour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 panose="020F0502020204030204"/>
              </a:rPr>
              <a:t>▸  Submit a short paper (draft in paper/main.pdf)</a:t>
            </a:r>
            <a:endParaRPr sz="125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22/23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 panose="020F0502020204030204"/>
              </a:rPr>
              <a:t>REFERENCES &amp; CONTRIBUTORS</a:t>
            </a:r>
            <a:endParaRPr sz="13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 panose="020F0502020204030204"/>
              </a:rPr>
              <a:t>Closing</a:t>
            </a:r>
            <a:endParaRPr sz="28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202C"/>
                </a:solidFill>
                <a:latin typeface="Calibri" panose="020F0502020204030204"/>
              </a:rPr>
              <a:t>▸  Rössler et al., FaceForensics++, ICCV 2019 · Chollet, Xception, CVPR 2017</a:t>
            </a:r>
            <a:endParaRPr sz="125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202C"/>
                </a:solidFill>
                <a:latin typeface="Calibri" panose="020F0502020204030204"/>
              </a:rPr>
              <a:t>▸  Dosovitskiy et al., Vision Transformer, ICLR 2021 · Selvaraju et al., Grad-CAM, ICCV 2017</a:t>
            </a:r>
            <a:endParaRPr sz="125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202C"/>
                </a:solidFill>
                <a:latin typeface="Calibri" panose="020F0502020204030204"/>
              </a:rPr>
              <a:t>▸  Li et al., Face X-ray, CVPR 2020 · Geirhos et al., Shortcut learning, Nat. Mach. Intell. 2020</a:t>
            </a:r>
            <a:endParaRPr sz="1250" b="0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202C"/>
                </a:solidFill>
                <a:latin typeface="Calibri" panose="020F0502020204030204"/>
              </a:rPr>
              <a:t>▸  Durall et al., CVPR 2020 · Frank et al., ICML 2020 · Song et al., DeepFakeFace, arXiv 2023</a:t>
            </a:r>
            <a:endParaRPr sz="1250" b="0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CONTRIBUTORS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Calibri" panose="020F0502020204030204"/>
              </a:rPr>
              <a:t>▸  Venugopalan Gangadharan — CB.AI.U4AID25115</a:t>
            </a:r>
            <a:endParaRPr sz="120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Calibri" panose="020F0502020204030204"/>
              </a:rPr>
              <a:t>▸  Vipin Sudhakar — CB.AI.U4AID25166</a:t>
            </a:r>
            <a:endParaRPr sz="120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Calibri" panose="020F0502020204030204"/>
              </a:rPr>
              <a:t>▸  Rithvik Arulprakash — CB.AI.U4AID25148</a:t>
            </a:r>
            <a:endParaRPr sz="1200" b="1">
              <a:solidFill>
                <a:srgbClr val="1A202C"/>
              </a:solidFill>
              <a:latin typeface="Calibri" panose="020F0502020204030204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Calibri" panose="020F0502020204030204"/>
              </a:rPr>
              <a:t>▸  Harshith Kv — CB.AI.U4AID25119</a:t>
            </a:r>
            <a:endParaRPr sz="1200" b="1">
              <a:solidFill>
                <a:srgbClr val="1A202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 panose="020F0502020204030204"/>
              </a:rPr>
              <a:t>GITHUB REPOSITORY</a:t>
            </a:r>
            <a:endParaRPr sz="1100" b="1">
              <a:solidFill>
                <a:srgbClr val="0E749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2B8CF"/>
                </a:solidFill>
                <a:latin typeface="Calibri" panose="020F0502020204030204"/>
              </a:rPr>
              <a:t>github.com/DUNE-ODYSSEY/deepfake-detection</a:t>
            </a:r>
            <a:endParaRPr sz="1250" b="1">
              <a:solidFill>
                <a:srgbClr val="22B8C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Deepfake Detection — End-Semester Review (23AID205)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 panose="020F0502020204030204"/>
              </a:rPr>
              <a:t>23/23</a:t>
            </a:r>
            <a:endParaRPr sz="1000" b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10718</Words>
  <Application>WPS Presentation</Application>
  <PresentationFormat>On-screen Show (4:3)</PresentationFormat>
  <Paragraphs>635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venug</cp:lastModifiedBy>
  <cp:revision>2</cp:revision>
  <dcterms:created xsi:type="dcterms:W3CDTF">2013-01-27T09:14:00Z</dcterms:created>
  <dcterms:modified xsi:type="dcterms:W3CDTF">2026-10-23T15:25:51Z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9DE47E9A132540B7A46622E72CD608FF_12</vt:lpwstr>
  </property>
</Properties>
</file>