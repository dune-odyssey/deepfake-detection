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21488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AIML COURSE PROJECT · 23AID205 · MID-REVIEW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68880"/>
            <a:ext cx="103327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Deepfake Detection:</a:t>
            </a:r>
          </a:p>
          <a:p>
            <a:pPr algn="l"/>
            <a:r>
              <a:rPr sz="3400" b="1">
                <a:solidFill>
                  <a:srgbClr val="FFFFFF"/>
                </a:solidFill>
                <a:latin typeface="Calibri"/>
              </a:rPr>
              <a:t>XceptionNet vs. CNN-ViT Hybrid on FaceForensics++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343400"/>
            <a:ext cx="9601200" cy="6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4A3B8"/>
                </a:solidFill>
                <a:latin typeface="Calibri"/>
              </a:rPr>
              <a:t>Cross-manipulation generalization and compression robustness — full pipeline run, both models trained, results analyzed, and a working live demo.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074920"/>
            <a:ext cx="457200" cy="27432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98932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5E9F0"/>
                </a:solidFill>
                <a:latin typeface="Calibri"/>
              </a:rPr>
              <a:t>Venugopalan Gangadharan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263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Calibri"/>
              </a:rPr>
              <a:t>AI &amp; Data Science — Amrita Vishwa Vidyapeetham, Coimbatore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Motivation, Problem &amp; Objectives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Deepfakes have moved from research curiosity to a real misinformation/fraud vector — but published detectors usually report one headline accuracy number, on the same manipulation type and compression level they trained on.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Problem: that number is misleading in practice — a detector at 99% in a paper can be ~57% AUC (worse than random) the moment the test distribution shifts, and that failure is invisible until deployment.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1: fairly compare XceptionNet (CNN baseline) vs. a CNN-ViT hybrid (ResNet + Transformer) on identical data/protocol — does global self-attention actually improve generalization?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2: measure same-distribution accuracy, full 4×4 cross-manipulation generalization, and compression robustness — not just one number.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Objective 3: explain *why* generalization succeeds or fails (Grad-CAM), and ship a working, testable live demo — not only offline metrics.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End-to-End Pipeline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0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0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Raw video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0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FF++ c23, 5 folders: real + 4 manipulation methods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48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48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68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8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Face extraction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8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MTCNN crop, 20 frames/video, margin 1.3x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6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56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76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76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Official splits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6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video-level train/val/test — no identity leakage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064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064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84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84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Train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84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AMP, class-balanced sampler, cosine LR, early stop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92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92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Evaluate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92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frame + video-level Acc/F1/AUC on held-out test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680080" y="2200000"/>
            <a:ext cx="1750000" cy="34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680080" y="2200000"/>
            <a:ext cx="1750000" cy="500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800080" y="2320000"/>
            <a:ext cx="151000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B8CF"/>
                </a:solidFill>
                <a:latin typeface="Calibri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0080" y="2800000"/>
            <a:ext cx="151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>
                <a:solidFill>
                  <a:srgbClr val="1A202C"/>
                </a:solidFill>
                <a:latin typeface="Calibri"/>
              </a:rPr>
              <a:t>Analyze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0080" y="3450000"/>
            <a:ext cx="151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cross-manip matrix, gap, Grad-CAM, live demo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DATASET &amp; PREPROCESSING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Data: Source, Prep &amp; Quality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FaceForensics++ (FF++): 5,000 videos — 1,000 real (YouTube interviews) + 4×1,000 manipulated (Deepfakes, Face2Face, FaceSwap, NeuralTextures), all sharing the same real-video identities. c23 compression, official FF++ folder layout (Kaggle mirror).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Official video-level train/val/test splits used throughout — critical, since random frame-level splits would leak identity between train/test and inflate accuracy.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Preprocessing: MTCNN face detection on GPU, 20 frames/video, 1.3x crop margin (captures blending-boundary artifacts), resized to 299×299 (native for XceptionNet, downsampled to 224 for the hybrid) → ~99,987 face crops total.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EDA/data-quality check: IQR outlier analysis on frame count &amp; file size flagged 502 of 5,000 videos (10%) before committing to full preprocessing.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400" b="0">
                <a:solidFill>
                  <a:srgbClr val="1A202C"/>
                </a:solidFill>
                <a:latin typeface="Calibri"/>
              </a:rPr>
              <a:t>▸  Real/fake class imbalance handled via a weighted random sampler at training time, not by discarding data. Official c0/c40 access still pending — see Compression slide.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ALGORITHM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Models: XceptionNet vs. CNN-ViT Hybrid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750000"/>
            <a:ext cx="5195000" cy="30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750000"/>
            <a:ext cx="5195000" cy="50292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6887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XCEPTIONNET (BASELINE)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1520"/>
            <a:ext cx="464636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Depthwise-separable CNN (Chollet 2017), ImageNet-pretrained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2048-d pooled features → dropout → linear → logit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Purely convolutional — local receptive fields only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E7490"/>
                </a:solidFill>
                <a:latin typeface="Calibri"/>
              </a:rPr>
              <a:t>▸  The standard reference detector for this exact task</a:t>
            </a:r>
          </a:p>
        </p:txBody>
      </p:sp>
      <p:sp>
        <p:nvSpPr>
          <p:cNvPr id="10" name="Rectangle 9"/>
          <p:cNvSpPr/>
          <p:nvPr/>
        </p:nvSpPr>
        <p:spPr>
          <a:xfrm>
            <a:off x="6063680" y="1750000"/>
            <a:ext cx="5195000" cy="30000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063680" y="1750000"/>
            <a:ext cx="5195000" cy="502920"/>
          </a:xfrm>
          <a:prstGeom prst="rect">
            <a:avLst/>
          </a:prstGeom>
          <a:solidFill>
            <a:srgbClr val="0E74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38000" y="1868872"/>
            <a:ext cx="4646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Calibri"/>
              </a:rPr>
              <a:t>CNN-VIT HYBRID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38000" y="2481520"/>
            <a:ext cx="464636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ResNet-50 (stages 1-3) → 14×14×1024 map → 512-d tokens + CLS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6-layer, 8-head Transformer encoder over the tokens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Tests: does global self-attention improve generalization?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50" b="1">
                <a:solidFill>
                  <a:srgbClr val="0F172A"/>
                </a:solidFill>
                <a:latin typeface="Calibri"/>
              </a:rPr>
              <a:t>▸  Same optimizer/schedule/data — architecture is the only variable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4978600"/>
            <a:ext cx="10852800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158600"/>
            <a:ext cx="108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SHARED TRAINING &amp; EVALUATION PROTOCOL (fair comparison — only the architecture differs)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538600"/>
            <a:ext cx="108528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AMP training, AdamW, cosine LR, batch size 32 (GPU-benchmarked — XceptionNet silently throttles above this), early stopping (patience 4 on val AUC). Metrics: Accuracy/F1/AUC at frame &amp; video level (video = mean of frame probabilities). 10 training runs, 36 evaluations total.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Baseline Comparison (same-distribution, c23)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Both models trained and tested on all 4 methods — the headline accuracy number most papers stop at.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9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1700000"/>
                <a:gridCol w="1700000"/>
                <a:gridCol w="1700000"/>
                <a:gridCol w="1700000"/>
                <a:gridCol w="17000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Acc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F1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Video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Acc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Frame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97.29%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95.49%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94.71%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0.967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92.76%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0.962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581640"/>
            <a:ext cx="108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475569"/>
                </a:solidFill>
                <a:latin typeface="Calibri"/>
              </a:rPr>
              <a:t>XceptionNet leads on every same-distribution metric — the first sign the hybrid's extra complexity isn't paying off on this task.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Cross-Manipulation Generalization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528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475569"/>
                </a:solidFill>
                <a:latin typeface="Calibri"/>
              </a:rPr>
              <a:t>Train on one manipulation method, test on all four (4×4 matrix per model). Diagonal = same-manip; off-diagonal = the actual generalization test.</a:t>
            </a:r>
          </a:p>
        </p:txBody>
      </p:sp>
      <p:pic>
        <p:nvPicPr>
          <p:cNvPr id="7" name="Picture 6" descr="cross_manipulation_heat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180000"/>
            <a:ext cx="7440000" cy="300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40080" y="5320000"/>
            <a:ext cx="10852800" cy="1150000"/>
          </a:xfrm>
          <a:prstGeom prst="rect">
            <a:avLst/>
          </a:prstGeom>
          <a:solidFill>
            <a:srgbClr val="FE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5320000"/>
            <a:ext cx="60000" cy="1150000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440000"/>
            <a:ext cx="104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DC2626"/>
                </a:solidFill>
                <a:latin typeface="Calibri"/>
              </a:rPr>
              <a:t>HEADLINE FINDING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750000"/>
            <a:ext cx="104528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Hypothesis (“attention generalizes better”) did NOT hold: XceptionNet has both higher same-distribution AND cross-manip AUC (generalization gap 0.398 vs. 0.421) than the hybrid. Worst cell for both, DF→FS: 0.256 / 0.198 AUC — worse than random.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RESULTS · EXPERIMENT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Compression Robustness (Proxy-c40)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Official c0/c40 FaceForensics++ access was still pending, and no c40 mirror exists on Kaggle. Worked around it rather than skipping the experiment.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2141640"/>
          <a:ext cx="10400000" cy="126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0000"/>
                <a:gridCol w="2600000"/>
                <a:gridCol w="2600000"/>
                <a:gridCol w="2600000"/>
              </a:tblGrid>
              <a:tr h="42000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Model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c23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c40proxy AUC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Drop</a:t>
                      </a:r>
                    </a:p>
                  </a:txBody>
                  <a:tcPr anchor="ctr">
                    <a:solidFill>
                      <a:srgbClr val="0F172A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XceptionNet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0.8018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-0.194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000">
                <a:tc>
                  <a:txBody>
                    <a:bodyPr/>
                    <a:lstStyle/>
                    <a:p>
                      <a:r>
                        <a:rPr sz="1250" b="1">
                          <a:solidFill>
                            <a:srgbClr val="1A202C"/>
                          </a:solidFill>
                          <a:latin typeface="Calibri"/>
                        </a:rPr>
                        <a:t>CNN-ViT Hybrid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0.9836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0.8172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0">
                          <a:solidFill>
                            <a:srgbClr val="1A202C"/>
                          </a:solidFill>
                          <a:latin typeface="Calibri"/>
                        </a:rPr>
                        <a:t>-0.166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8/11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200000"/>
            <a:ext cx="10852800" cy="1500000"/>
          </a:xfrm>
          <a:prstGeom prst="rect">
            <a:avLst/>
          </a:prstGeom>
          <a:solidFill>
            <a:srgbClr val="FEF3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4200000"/>
            <a:ext cx="60000" cy="1500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320000"/>
            <a:ext cx="1045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METHOD (CAVEATED)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630000"/>
            <a:ext cx="10452800" cy="9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202C"/>
                </a:solidFill>
                <a:latin typeface="Calibri"/>
              </a:rPr>
              <a:t>“c40proxy” = the held-out test videos re-transcoded locally, c23→crf40 (ffmpeg). This double-compresses rather than compressing once from raw like official c40, so degradation is harsher/different from the real thing — a documented approximation, used for evaluation only, never for training. Will re-run against official c0/c40 if FaceForensics++ approval arrives.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INTERPRETABILITY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Grad-CAM: Why Generalization Fails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>
                <a:solidFill>
                  <a:srgbClr val="475569"/>
                </a:solidFill>
                <a:latin typeface="Calibri"/>
              </a:rPr>
              <a:t>Same video, same Deepfakes-only checkpoint. Same-manip: attention locks onto the central face (blending artifacts). Cross-manip to FaceSwap (worst cell): attention collapses off-face — neither model falls back to anything sensible.</a:t>
            </a:r>
          </a:p>
        </p:txBody>
      </p:sp>
      <p:pic>
        <p:nvPicPr>
          <p:cNvPr id="7" name="Picture 6" descr="gradcam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286000"/>
            <a:ext cx="5868000" cy="4200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782400" y="2286000"/>
            <a:ext cx="4769215" cy="4114800"/>
          </a:xfrm>
          <a:prstGeom prst="rect">
            <a:avLst/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11000" y="2466000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DF → FS (worst cell)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1000" y="2786000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0.256 / 0.198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11000" y="3126000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cross-manip AUC (xception / cnn_vit) — worse than random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11000" y="3990933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1.000 → 0.000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11000" y="4330933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xception fake-prob: same-manip vs. cross-manip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11000" y="5195866"/>
            <a:ext cx="431201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F172A"/>
                </a:solidFill>
                <a:latin typeface="Calibri"/>
              </a:rPr>
              <a:t>face → background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11000" y="5535866"/>
            <a:ext cx="431201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where attention shifts when the signal is absent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SOFTWARE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Live Demo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10852800" cy="43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FastAPI backend + browser frontend: upload an image or short video, get a real/fake probability from either trained checkpoint. Pipeline mirrors training exactly (MTCNN crop → resize/normalize → per-frame probability → video-level average).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Verified against a curated, held-out test-split set (never seen in training) — all correctly and confidently classified by XceptionNet; CNN-ViT correct but visibly less confident, consistent with its lower baseline accuracy.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Sanity-checked against an out-of-distribution image circulating online (not FF++ data): both models confidently wrong — expected given the generalization-gap numbers, and a live demonstration of this project's own finding rather than a contradiction of it.</a:t>
            </a:r>
          </a:p>
          <a:p>
            <a:pPr>
              <a:lnSpc>
                <a:spcPct val="112000"/>
              </a:lnSpc>
              <a:spcAft>
                <a:spcPts val="1400"/>
              </a:spcAft>
            </a:pPr>
            <a:r>
              <a:rPr sz="1500" b="0">
                <a:solidFill>
                  <a:srgbClr val="1A202C"/>
                </a:solidFill>
                <a:latin typeface="Calibri"/>
              </a:rPr>
              <a:t>▸  Runs on CPU by design, so it never competes with GPU training/evaluation jobs.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84048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490"/>
                </a:solidFill>
                <a:latin typeface="Calibri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85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202C"/>
                </a:solidFill>
                <a:latin typeface="Calibri"/>
              </a:rPr>
              <a:t>Key Takeaways &amp; Closing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353312"/>
            <a:ext cx="502920" cy="41148"/>
          </a:xfrm>
          <a:prstGeom prst="rect">
            <a:avLst/>
          </a:prstGeom>
          <a:solidFill>
            <a:srgbClr val="22B8C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63500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0">
                <a:solidFill>
                  <a:srgbClr val="1A202C"/>
                </a:solidFill>
                <a:latin typeface="Calibri"/>
              </a:rPr>
              <a:t>▸  XceptionNet outperforms the CNN-ViT hybrid on every metric measured — same-distribution accuracy, generalization gap, and most compression conditions — contradicting the hypothesis that attention would help generalization.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0">
                <a:solidFill>
                  <a:srgbClr val="1A202C"/>
                </a:solidFill>
                <a:latin typeface="Calibri"/>
              </a:rPr>
              <a:t>▸  Both architectures share the same weakness: narrow, method-specific artifacts rather than a general "manipulated" signal — confirmed visually via Grad-CAM.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0">
                <a:solidFill>
                  <a:srgbClr val="1A202C"/>
                </a:solidFill>
                <a:latin typeface="Calibri"/>
              </a:rPr>
              <a:t>▸  Future work: official c0/c40 once approved (replacing the proxy), multi-seed runs for statistical confidence, Grad-CAM on a genuinely-uncertain cell.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50" b="0">
                <a:solidFill>
                  <a:srgbClr val="1A202C"/>
                </a:solidFill>
                <a:latin typeface="Calibri"/>
              </a:rPr>
              <a:t>▸  Practical takeaway: a deployed detector needs training coverage of its target manipulation types, or an explicit "unknown" fallback — confident-wrong is worse than honest uncertainty.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18680" y="1783080"/>
            <a:ext cx="43329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REFERENCES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18680" y="2130000"/>
            <a:ext cx="4332935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50" b="0">
                <a:solidFill>
                  <a:srgbClr val="1A202C"/>
                </a:solidFill>
                <a:latin typeface="Calibri"/>
              </a:rPr>
              <a:t>▸  Rössler et al. (2019). FaceForensics++. ICCV.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50" b="0">
                <a:solidFill>
                  <a:srgbClr val="1A202C"/>
                </a:solidFill>
                <a:latin typeface="Calibri"/>
              </a:rPr>
              <a:t>▸  Chollet (2017). Xception. CVPR.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50" b="0">
                <a:solidFill>
                  <a:srgbClr val="1A202C"/>
                </a:solidFill>
                <a:latin typeface="Calibri"/>
              </a:rPr>
              <a:t>▸  Dosovitskiy et al. (2021). ViT. ICLR.</a:t>
            </a:r>
          </a:p>
          <a:p>
            <a:pPr>
              <a:lnSpc>
                <a:spcPct val="112000"/>
              </a:lnSpc>
              <a:spcAft>
                <a:spcPts val="700"/>
              </a:spcAft>
            </a:pPr>
            <a:r>
              <a:rPr sz="1050" b="0">
                <a:solidFill>
                  <a:srgbClr val="1A202C"/>
                </a:solidFill>
                <a:latin typeface="Calibri"/>
              </a:rPr>
              <a:t>▸  Selvaraju et al. (2017). Grad-CAM. ICCV.</a:t>
            </a:r>
          </a:p>
        </p:txBody>
      </p:sp>
      <p:sp>
        <p:nvSpPr>
          <p:cNvPr id="9" name="Rectangle 8"/>
          <p:cNvSpPr/>
          <p:nvPr/>
        </p:nvSpPr>
        <p:spPr>
          <a:xfrm>
            <a:off x="7218680" y="4100000"/>
            <a:ext cx="4332935" cy="18288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18680" y="4260000"/>
            <a:ext cx="43329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CONTRIBUTOR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18680" y="4560000"/>
            <a:ext cx="4332935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A202C"/>
                </a:solidFill>
                <a:latin typeface="Calibri"/>
              </a:rPr>
              <a:t>Venugopalan Gangadharan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18680" y="4910000"/>
            <a:ext cx="433293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>
                <a:solidFill>
                  <a:srgbClr val="475569"/>
                </a:solidFill>
                <a:latin typeface="Calibri"/>
              </a:rPr>
              <a:t>AI &amp; Data Science — Amrita Vishwa Vidyapeetham, Coimbatore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18680" y="5450000"/>
            <a:ext cx="433293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E7490"/>
                </a:solidFill>
                <a:latin typeface="Calibri"/>
              </a:rPr>
              <a:t>GITHUB REPOSITORY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18680" y="5750000"/>
            <a:ext cx="433293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>
                <a:solidFill>
                  <a:srgbClr val="22B8CF"/>
                </a:solidFill>
                <a:latin typeface="Calibri"/>
              </a:rPr>
              <a:t>github.com/DUNE-ODYSSEY/deepfake-detection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510528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4A3B8"/>
                </a:solidFill>
                <a:latin typeface="Calibri"/>
              </a:rPr>
              <a:t>Deepfake Detection — XceptionNet vs. CNN-ViT (23AID205)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0" y="65105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94A3B8"/>
                </a:solidFill>
                <a:latin typeface="Calibri"/>
              </a:rPr>
              <a:t>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