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180">
                <a:solidFill>
                  <a:srgbClr val="22B8CF"/>
                </a:solidFill>
                <a:latin typeface="Calibri"/>
              </a:rPr>
              <a:t>AIML COURSE PROJECT · MID-REVIEW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Deepfake Detection:</a:t>
            </a:r>
          </a:p>
          <a:p>
            <a:pPr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XceptionNet vs. CNN-ViT Hybrid on FaceForensics++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  <a:latin typeface="Calibri"/>
              </a:rPr>
              <a:t>Cross-manipulation generalization and compression robustness, compared across architectures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074920"/>
            <a:ext cx="457200" cy="27432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5E9F0"/>
                </a:solidFill>
                <a:latin typeface="Calibri"/>
              </a:rPr>
              <a:t>Venugopalan Gangadharan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AI &amp; Data Science · Amrita Vishwa Vidyapeetham, Coimbatore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E7490"/>
                </a:solidFill>
                <a:latin typeface="Calibri"/>
              </a:rPr>
              <a:t>PROJECT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02C"/>
                </a:solidFill>
                <a:latin typeface="Calibri"/>
              </a:rPr>
              <a:t>What We're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8229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1" i="0">
                <a:solidFill>
                  <a:srgbClr val="22B8CF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A202C"/>
                </a:solidFill>
                <a:latin typeface="Calibri"/>
              </a:rPr>
              <a:t>Comparing two detectors: </a:t>
            </a:r>
            <a:r>
              <a:rPr sz="1600" b="0" i="0">
                <a:solidFill>
                  <a:srgbClr val="1A202C"/>
                </a:solidFill>
                <a:latin typeface="Calibri"/>
              </a:rPr>
              <a:t>XceptionNet (CNN baseline) vs. a hybrid ResNet-50 + Transformer encoder.</a:t>
            </a:r>
          </a:p>
          <a:p>
            <a:pPr>
              <a:spcAft>
                <a:spcPts val="1600"/>
              </a:spcAft>
            </a:pPr>
            <a:r>
              <a:rPr sz="1600" b="1" i="0">
                <a:solidFill>
                  <a:srgbClr val="22B8CF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A202C"/>
                </a:solidFill>
                <a:latin typeface="Calibri"/>
              </a:rPr>
              <a:t>Core question: </a:t>
            </a:r>
            <a:r>
              <a:rPr sz="1600" b="0" i="0">
                <a:solidFill>
                  <a:srgbClr val="1A202C"/>
                </a:solidFill>
                <a:latin typeface="Calibri"/>
              </a:rPr>
              <a:t>which architecture generalizes better to manipulation types it never saw during training?</a:t>
            </a:r>
          </a:p>
          <a:p>
            <a:pPr>
              <a:spcAft>
                <a:spcPts val="1600"/>
              </a:spcAft>
            </a:pPr>
            <a:r>
              <a:rPr sz="1600" b="1" i="0">
                <a:solidFill>
                  <a:srgbClr val="22B8CF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A202C"/>
                </a:solidFill>
                <a:latin typeface="Calibri"/>
              </a:rPr>
              <a:t>Secondary question: </a:t>
            </a:r>
            <a:r>
              <a:rPr sz="1600" b="0" i="0">
                <a:solidFill>
                  <a:srgbClr val="1A202C"/>
                </a:solidFill>
                <a:latin typeface="Calibri"/>
              </a:rPr>
              <a:t>which is more robust when video compression degrades quality (c0 → c23 → c40)?</a:t>
            </a:r>
          </a:p>
          <a:p>
            <a:pPr>
              <a:spcAft>
                <a:spcPts val="1600"/>
              </a:spcAft>
            </a:pPr>
            <a:r>
              <a:rPr sz="1600" b="1" i="0">
                <a:solidFill>
                  <a:srgbClr val="22B8CF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A202C"/>
                </a:solidFill>
                <a:latin typeface="Calibri"/>
              </a:rPr>
              <a:t>Dataset: </a:t>
            </a:r>
            <a:r>
              <a:rPr sz="1600" b="0" i="0">
                <a:solidFill>
                  <a:srgbClr val="1A202C"/>
                </a:solidFill>
                <a:latin typeface="Calibri"/>
              </a:rPr>
              <a:t>FaceForensics++ — real videos + 4 manipulation methods (Deepfakes, Face2Face, FaceSwap, NeuralTextures).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783080"/>
            <a:ext cx="237744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2011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0E7490"/>
                </a:solidFill>
                <a:latin typeface="Calibri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42316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8072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Model architectures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081528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465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Manipulation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739896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412394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Compression levels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398264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47823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Core experiments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Deepfake Detection — Mid-Review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E7490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02C"/>
                </a:solidFill>
                <a:latin typeface="Calibri"/>
              </a:rPr>
              <a:t>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1965960" cy="1828800"/>
          </a:xfrm>
          <a:prstGeom prst="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560320"/>
            <a:ext cx="1636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2B8C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154680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Raw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611880"/>
            <a:ext cx="1636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FF++ real + manipulated</a:t>
            </a:r>
          </a:p>
        </p:txBody>
      </p:sp>
      <p:sp>
        <p:nvSpPr>
          <p:cNvPr id="11" name="Chevron 10"/>
          <p:cNvSpPr/>
          <p:nvPr/>
        </p:nvSpPr>
        <p:spPr>
          <a:xfrm>
            <a:off x="2633471" y="3172968"/>
            <a:ext cx="201168" cy="237744"/>
          </a:xfrm>
          <a:prstGeom prst="chevron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62072" y="2377440"/>
            <a:ext cx="1965960" cy="18288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2560320"/>
            <a:ext cx="1636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2B8C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3154680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Face Crops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3611880"/>
            <a:ext cx="1636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MTCNN, margin-scaled</a:t>
            </a:r>
          </a:p>
        </p:txBody>
      </p:sp>
      <p:sp>
        <p:nvSpPr>
          <p:cNvPr id="16" name="Chevron 15"/>
          <p:cNvSpPr/>
          <p:nvPr/>
        </p:nvSpPr>
        <p:spPr>
          <a:xfrm>
            <a:off x="4855464" y="3172968"/>
            <a:ext cx="201168" cy="237744"/>
          </a:xfrm>
          <a:prstGeom prst="chevron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4064" y="2377440"/>
            <a:ext cx="1965960" cy="18288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5" y="2560320"/>
            <a:ext cx="1636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2B8C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5" y="3154680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5" y="3611880"/>
            <a:ext cx="1636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Xception &amp; CNN-ViT, AMP</a:t>
            </a:r>
          </a:p>
        </p:txBody>
      </p:sp>
      <p:sp>
        <p:nvSpPr>
          <p:cNvPr id="21" name="Chevron 20"/>
          <p:cNvSpPr/>
          <p:nvPr/>
        </p:nvSpPr>
        <p:spPr>
          <a:xfrm>
            <a:off x="7077455" y="3172968"/>
            <a:ext cx="201168" cy="237744"/>
          </a:xfrm>
          <a:prstGeom prst="chevron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6055" y="2377440"/>
            <a:ext cx="1965960" cy="18288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2560320"/>
            <a:ext cx="1636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2B8C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3154680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3611880"/>
            <a:ext cx="1636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cross-manip + compression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9299447" y="3172968"/>
            <a:ext cx="201168" cy="237744"/>
          </a:xfrm>
          <a:prstGeom prst="chevron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28047" y="2377440"/>
            <a:ext cx="1965960" cy="18288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39" y="2560320"/>
            <a:ext cx="1636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2B8C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39" y="3154680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39" y="3611880"/>
            <a:ext cx="1636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heatmaps, gen.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72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475569"/>
                </a:solidFill>
                <a:latin typeface="Calibri"/>
              </a:rPr>
              <a:t>Same optimizer, schedule, and data for both models — architecture is the only variable.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Deepfake Detection — Mid-Review 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E7490"/>
                </a:solidFill>
                <a:latin typeface="Calibri"/>
              </a:rPr>
              <a:t>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02C"/>
                </a:solidFill>
                <a:latin typeface="Calibri"/>
              </a:rPr>
              <a:t>Three 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337560" cy="33832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3337560" cy="73152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7490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Baseline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12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Calibri"/>
              </a:rPr>
              <a:t>Both models trained + tested on all 4 methods, c23.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3400"/>
            <a:ext cx="2880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9884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0E7490"/>
                </a:solidFill>
                <a:latin typeface="Calibri"/>
              </a:rPr>
              <a:t>→ Headline accuracy / F1 / AUC comparison.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783080"/>
            <a:ext cx="3337560" cy="33832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783080"/>
            <a:ext cx="3337560" cy="73152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0574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7490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5146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Cross-Manipulation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24612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Calibri"/>
              </a:rPr>
              <a:t>Train on ONE method, test on all 4 (4×4 per model).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8848" y="4343400"/>
            <a:ext cx="2880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449884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0E7490"/>
                </a:solidFill>
                <a:latin typeface="Calibri"/>
              </a:rPr>
              <a:t>→ The novelty — who survives unseen forgery types.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0415" y="1783080"/>
            <a:ext cx="3337560" cy="33832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0415" y="1783080"/>
            <a:ext cx="3337560" cy="73152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9015" y="20574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7490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5" y="25146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Compression Robustness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5" y="324612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Calibri"/>
              </a:rPr>
              <a:t>Train c23 → test c0/c23/c40 (and train c40 →).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9015" y="4343400"/>
            <a:ext cx="288036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5" y="449884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0E7490"/>
                </a:solidFill>
                <a:latin typeface="Calibri"/>
              </a:rPr>
              <a:t>→ Robustness to real-world compression.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Deepfake Detection — Mid-Review Update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E7490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02C"/>
                </a:solidFill>
                <a:latin typeface="Calibri"/>
              </a:rPr>
              <a:t>What's Done, What's Left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49240" cy="41148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534924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100">
                <a:solidFill>
                  <a:srgbClr val="FFFFFF"/>
                </a:solidFill>
                <a:latin typeface="Calibri"/>
              </a:rPr>
              <a:t>✓ 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846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0">
                <a:solidFill>
                  <a:srgbClr val="1A202C"/>
                </a:solidFill>
                <a:latin typeface="Calibri"/>
              </a:rPr>
              <a:t>Full pipeline written: preprocessing, training, evaluation, analysis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0">
                <a:solidFill>
                  <a:srgbClr val="1A202C"/>
                </a:solidFill>
                <a:latin typeface="Calibri"/>
              </a:rPr>
              <a:t>Dev environment set up &amp; verified (Python 3.11, PyTorch 2.6 + CUDA)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0">
                <a:solidFill>
                  <a:srgbClr val="1A202C"/>
                </a:solidFill>
                <a:latin typeface="Calibri"/>
              </a:rPr>
              <a:t>Confirmed GPU (RTX 3060, 6GB) working end-to-end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0">
                <a:solidFill>
                  <a:srgbClr val="1A202C"/>
                </a:solidFill>
                <a:latin typeface="Calibri"/>
              </a:rPr>
              <a:t>Benchmarked GPU capacity — found &amp; fixed a silent memory-paging issue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0">
                <a:solidFill>
                  <a:srgbClr val="1A202C"/>
                </a:solidFill>
                <a:latin typeface="Calibri"/>
              </a:rPr>
              <a:t>Established safe batch size (32) for both models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0">
                <a:solidFill>
                  <a:srgbClr val="1A202C"/>
                </a:solidFill>
                <a:latin typeface="Calibri"/>
              </a:rPr>
              <a:t>Dataset downloaded (Kaggle c23 mirror) &amp; mapped to the official FF++ layout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0">
                <a:solidFill>
                  <a:srgbClr val="1A202C"/>
                </a:solidFill>
                <a:latin typeface="Calibri"/>
              </a:rPr>
              <a:t>Outliers checked via box plot (IQR) — 502 of 5,000 videos flagged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16A34A"/>
                </a:solidFill>
                <a:latin typeface="Calibri"/>
              </a:rPr>
              <a:t>▸  </a:t>
            </a:r>
            <a:r>
              <a:rPr sz="1250" b="0">
                <a:solidFill>
                  <a:srgbClr val="1A202C"/>
                </a:solidFill>
                <a:latin typeface="Calibri"/>
              </a:rPr>
              <a:t>Preprocessing dry-run verified: MTCNN face crops confirmed on GPU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349240" cy="41148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34924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0195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100">
                <a:solidFill>
                  <a:srgbClr val="FFFFFF"/>
                </a:solidFill>
                <a:latin typeface="Calibri"/>
              </a:rPr>
              <a:t>◐  IN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8463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▸  </a:t>
            </a:r>
            <a:r>
              <a:rPr sz="1250" b="1">
                <a:solidFill>
                  <a:srgbClr val="1A202C"/>
                </a:solidFill>
                <a:latin typeface="Calibri"/>
              </a:rPr>
              <a:t>Full preprocessing: </a:t>
            </a:r>
            <a:r>
              <a:rPr sz="1250" b="0">
                <a:solidFill>
                  <a:srgbClr val="1A202C"/>
                </a:solidFill>
                <a:latin typeface="Calibri"/>
              </a:rPr>
              <a:t>extracting face crops for all ~5,000 videos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▸  </a:t>
            </a:r>
            <a:r>
              <a:rPr sz="1250" b="1">
                <a:solidFill>
                  <a:srgbClr val="1A202C"/>
                </a:solidFill>
                <a:latin typeface="Calibri"/>
              </a:rPr>
              <a:t>Training runs: </a:t>
            </a:r>
            <a:r>
              <a:rPr sz="1250" b="0">
                <a:solidFill>
                  <a:srgbClr val="1A202C"/>
                </a:solidFill>
                <a:latin typeface="Calibri"/>
              </a:rPr>
              <a:t>12 training runs across both models, not yet started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F59E0B"/>
                </a:solidFill>
                <a:latin typeface="Calibri"/>
              </a:rPr>
              <a:t>▸  </a:t>
            </a:r>
            <a:r>
              <a:rPr sz="1250" b="1">
                <a:solidFill>
                  <a:srgbClr val="1A202C"/>
                </a:solidFill>
                <a:latin typeface="Calibri"/>
              </a:rPr>
              <a:t>Evaluation &amp; analysis: </a:t>
            </a:r>
            <a:r>
              <a:rPr sz="1250" b="0">
                <a:solidFill>
                  <a:srgbClr val="1A202C"/>
                </a:solidFill>
                <a:latin typeface="Calibri"/>
              </a:rPr>
              <a:t>cross-manipulation + compression experiments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Deepfake Detection — Mid-Review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E7490"/>
                </a:solidFill>
                <a:latin typeface="Calibri"/>
              </a:rPr>
              <a:t>TECHNICAL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02C"/>
                </a:solidFill>
                <a:latin typeface="Calibri"/>
              </a:rPr>
              <a:t>GPU Capacity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Calibri"/>
              </a:rPr>
              <a:t>Timed forward+backward+optimizer steps at increasing batch sizes on the 6GB RTX 3060.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7406640" cy="39188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2286000"/>
            <a:ext cx="85953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286000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Xception ms/it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2286000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Xception img/s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2286000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CNN-ViT ms/it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86000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CNN-ViT img/s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677885"/>
            <a:ext cx="7406640" cy="39188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2677885"/>
            <a:ext cx="85953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2677885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65.5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2677885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122.1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2677885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55.1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677885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145.1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69771"/>
            <a:ext cx="7406640" cy="391885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" y="3069771"/>
            <a:ext cx="85953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  <a:latin typeface="Calibri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069771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115.7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9272" y="3069771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138.2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3069771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114.0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069771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140.4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61657"/>
            <a:ext cx="7406640" cy="39188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1" y="3461657"/>
            <a:ext cx="85953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  <a:latin typeface="Calibri"/>
              </a:rPr>
              <a:t>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3461657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165.3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3461657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145.2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3461657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170.7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3461657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140.6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853542"/>
            <a:ext cx="7406640" cy="391885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1" y="3853542"/>
            <a:ext cx="85953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  <a:latin typeface="Calibri"/>
              </a:rPr>
              <a:t>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19072" y="3853542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217.1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9272" y="3853542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147.4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3853542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204.8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3853542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1A202C"/>
                </a:solidFill>
                <a:latin typeface="Calibri"/>
              </a:rPr>
              <a:t>156.2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245428"/>
            <a:ext cx="7406640" cy="391885"/>
          </a:xfrm>
          <a:prstGeom prst="rect">
            <a:avLst/>
          </a:prstGeom>
          <a:solidFill>
            <a:srgbClr val="FEF3E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1" y="4245428"/>
            <a:ext cx="85953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  <a:latin typeface="Calibri"/>
              </a:rPr>
              <a:t>48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19072" y="4245428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2410C"/>
                </a:solidFill>
                <a:latin typeface="Calibri"/>
              </a:rPr>
              <a:t>2545.7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9272" y="4245428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2410C"/>
                </a:solidFill>
                <a:latin typeface="Calibri"/>
              </a:rPr>
              <a:t>18.9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9472" y="4245428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2410C"/>
                </a:solidFill>
                <a:latin typeface="Calibri"/>
              </a:rPr>
              <a:t>349.3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9672" y="4245428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2410C"/>
                </a:solidFill>
                <a:latin typeface="Calibri"/>
              </a:rPr>
              <a:t>137.4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637314"/>
            <a:ext cx="7406640" cy="391885"/>
          </a:xfrm>
          <a:prstGeom prst="rect">
            <a:avLst/>
          </a:prstGeom>
          <a:solidFill>
            <a:srgbClr val="FEF3E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1" y="4637314"/>
            <a:ext cx="85953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202C"/>
                </a:solidFill>
                <a:latin typeface="Calibri"/>
              </a:rPr>
              <a:t>64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19072" y="4637314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2410C"/>
                </a:solidFill>
                <a:latin typeface="Calibri"/>
              </a:rPr>
              <a:t>10802.1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9272" y="4637314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2410C"/>
                </a:solidFill>
                <a:latin typeface="Calibri"/>
              </a:rPr>
              <a:t>5.9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19472" y="4637314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2410C"/>
                </a:solidFill>
                <a:latin typeface="Calibri"/>
              </a:rPr>
              <a:t>446.0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9672" y="4637314"/>
            <a:ext cx="1453896" cy="3918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C2410C"/>
                </a:solidFill>
                <a:latin typeface="Calibri"/>
              </a:rPr>
              <a:t>143.5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21040" y="2286000"/>
            <a:ext cx="3200400" cy="2743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248716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22B8CF"/>
                </a:solidFill>
                <a:latin typeface="Calibri"/>
              </a:rPr>
              <a:t>FINDING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40" y="288036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Xception silently pages to system RAM above batch 32 — 10–25× slower, no crash.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4343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Fix: cap batch size at 32 (already the script default) for both models.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Deepfake Detection — Mid-Review Update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E7490"/>
                </a:solidFill>
                <a:latin typeface="Calibri"/>
              </a:rPr>
              <a:t>PLAN TO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02C"/>
                </a:solidFill>
                <a:latin typeface="Calibri"/>
              </a:rPr>
              <a:t>Timeline (3-Week Runway)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417320" cy="10972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4173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920240"/>
            <a:ext cx="859536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920240"/>
            <a:ext cx="81381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202C"/>
                </a:solidFill>
                <a:latin typeface="Calibri"/>
              </a:rPr>
              <a:t>Finalize dataset: Kaggle download + official FF++ access; verify folder layout; dry-run preprocessing on a few videos.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8448" y="3017520"/>
            <a:ext cx="91440" cy="32004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337560"/>
            <a:ext cx="1417320" cy="10972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14173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3337560"/>
            <a:ext cx="859536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3337560"/>
            <a:ext cx="81381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202C"/>
                </a:solidFill>
                <a:latin typeface="Calibri"/>
              </a:rPr>
              <a:t>Run full training/evaluation matrix — 12 training runs + ~40 evaluations, est. 15–25 GPU-hours on local hardware.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98448" y="4434840"/>
            <a:ext cx="91440" cy="320040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754880"/>
            <a:ext cx="1417320" cy="10972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4173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4754880"/>
            <a:ext cx="859536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4754880"/>
            <a:ext cx="81381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202C"/>
                </a:solidFill>
                <a:latin typeface="Calibri"/>
              </a:rPr>
              <a:t>Run analysis (heatmaps, generalization-gap tables, compression robustness); write up report and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Deepfake Detection — Mid-Review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202C"/>
                </a:solidFill>
                <a:latin typeface="Calibri"/>
              </a:rPr>
              <a:t>Outlier Removal via Box Plot (IQR)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502920" cy="41148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475569"/>
                </a:solidFill>
                <a:latin typeface="Calibri"/>
              </a:rPr>
              <a:t>Per-video metadata (frame count, file size) from the FF++ Kaggle mirror, checked with Tukey's IQR method — flags anything beyond Q1 − 1.5×IQR / Q3 + 1.5×IQR.</a:t>
            </a:r>
          </a:p>
        </p:txBody>
      </p:sp>
      <p:pic>
        <p:nvPicPr>
          <p:cNvPr id="7" name="Picture 6" descr="outlier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7406640" cy="364816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2286000"/>
            <a:ext cx="3200400" cy="4114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2513965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895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2522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videos analyzed (real + 4 manipulation methods)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515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209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8722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flagged on frame count (4.2%)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135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326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4922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flagged on file size (6.5%)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7556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502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1122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unique outlier videos overall (10.0%)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49640" y="5635600"/>
            <a:ext cx="2743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54156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Calibri"/>
              </a:rP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5715600"/>
            <a:ext cx="27432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202C"/>
                </a:solidFill>
                <a:latin typeface="Calibri"/>
              </a:rPr>
              <a:t>Excluded before preprocessing — clean set: 4,498 videos.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Deepfake Detection — Mid-Review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22B8C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On Track for Completion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02920" cy="36576"/>
          </a:xfrm>
          <a:prstGeom prst="rect">
            <a:avLst/>
          </a:prstGeom>
          <a:solidFill>
            <a:srgbClr val="22B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035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450" b="1" i="0">
                <a:solidFill>
                  <a:srgbClr val="22B8C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5E9F0"/>
                </a:solidFill>
                <a:latin typeface="Calibri"/>
              </a:rPr>
              <a:t>Full pipeline code-complete: preprocessing, training, evaluation, analysis</a:t>
            </a:r>
          </a:p>
          <a:p>
            <a:pPr>
              <a:spcAft>
                <a:spcPts val="1600"/>
              </a:spcAft>
            </a:pPr>
            <a:r>
              <a:rPr sz="1450" b="1" i="0">
                <a:solidFill>
                  <a:srgbClr val="22B8C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5E9F0"/>
                </a:solidFill>
                <a:latin typeface="Calibri"/>
              </a:rPr>
              <a:t>Local GPU environment verified end-to-end, capacity limits known</a:t>
            </a:r>
          </a:p>
          <a:p>
            <a:pPr>
              <a:spcAft>
                <a:spcPts val="1600"/>
              </a:spcAft>
            </a:pPr>
            <a:r>
              <a:rPr sz="1450" b="1" i="0">
                <a:solidFill>
                  <a:srgbClr val="22B8C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5E9F0"/>
                </a:solidFill>
                <a:latin typeface="Calibri"/>
              </a:rPr>
              <a:t>Dataset acquisition underway (official form + Kaggle bridge)</a:t>
            </a:r>
          </a:p>
          <a:p>
            <a:pPr>
              <a:spcAft>
                <a:spcPts val="1600"/>
              </a:spcAft>
            </a:pPr>
            <a:r>
              <a:rPr sz="1450" b="1" i="0">
                <a:solidFill>
                  <a:srgbClr val="22B8C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E5E9F0"/>
                </a:solidFill>
                <a:latin typeface="Calibri"/>
              </a:rPr>
              <a:t>On track for full experiment matrix within the 3-week window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874519"/>
            <a:ext cx="4526280" cy="32004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084831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F59E0B"/>
                </a:solidFill>
                <a:latin typeface="Calibri"/>
              </a:rPr>
              <a:t>MAIN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450592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9F0"/>
                </a:solidFill>
                <a:latin typeface="Calibri"/>
              </a:rPr>
              <a:t>No credible Kaggle mirror for c40 compression — that experiment waits on official FF++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3429000"/>
            <a:ext cx="402336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361188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20">
                <a:solidFill>
                  <a:srgbClr val="22B8CF"/>
                </a:solidFill>
                <a:latin typeface="Calibri"/>
              </a:rPr>
              <a:t>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977639"/>
            <a:ext cx="4023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5E9F0"/>
                </a:solidFill>
                <a:latin typeface="Calibri"/>
              </a:rPr>
              <a:t>Run Experiments 1 &amp; 2 fully on c23 now; slot in Experiment 3 (compression) once c40 access clears.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Deepfake Detection — Mid-Review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05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