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0000"/>
            <a:ext cx="12191695" cy="25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000"/>
            <a:ext cx="1085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3864"/>
                </a:solidFill>
                <a:latin typeface="Calibri"/>
              </a:rPr>
              <a:t>AIML COURSE PROJECT  ·  23AID205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0000"/>
            <a:ext cx="10852800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1A1A"/>
                </a:solidFill>
                <a:latin typeface="Calibri"/>
              </a:rPr>
              <a:t>Deepfake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0000"/>
            <a:ext cx="1085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95959"/>
                </a:solidFill>
                <a:latin typeface="Calibri"/>
              </a:rPr>
              <a:t>A Comparative Study of XceptionNet and a CNN-ViT Hybrid on FaceForensics++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50000"/>
            <a:ext cx="108528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95959"/>
                </a:solidFill>
                <a:latin typeface="Calibri"/>
              </a:rPr>
              <a:t>Cross-Manipulation Generalization and Compression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0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1A1A1A"/>
                </a:solidFill>
                <a:latin typeface="Calibri"/>
              </a:rPr>
              <a:t>Venugopalan Gangadharan | Vipin Sudhakar | Rithvik Arulprakash | Harshith Kv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5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Department of Artificial Intelligence &amp; Data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2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Calibri"/>
              </a:rPr>
              <a:t>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Presentation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00000"/>
            <a:ext cx="10852800" cy="9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0080" y="2150000"/>
            <a:ext cx="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0080" y="216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0080" y="2220000"/>
            <a:ext cx="6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Calibri"/>
              </a:rPr>
              <a:t>What we are solving, and why it is necessary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80000"/>
            <a:ext cx="10852800" cy="9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0080" y="3230000"/>
            <a:ext cx="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0080" y="324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0080" y="3300000"/>
            <a:ext cx="6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Calibri"/>
              </a:rPr>
              <a:t>The challenge, its difficulty, and why we chose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60000"/>
            <a:ext cx="10852800" cy="9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0080" y="4310000"/>
            <a:ext cx="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0080" y="432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0080" y="4380000"/>
            <a:ext cx="6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Calibri"/>
              </a:rPr>
              <a:t>Our approach, the two architectures, and its innovation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40000"/>
            <a:ext cx="10852800" cy="95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080" y="5390000"/>
            <a:ext cx="9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0080" y="5400000"/>
            <a:ext cx="3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0080" y="5460000"/>
            <a:ext cx="6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Calibri"/>
              </a:rPr>
              <a:t>Findings across three experiments and their implications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What We Are Solving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This project addresses automated deepfake detection: given a face video, determine whether it has been digitally manipulated or is authentic.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Specifically, we conduct a controlled comparative study of two detector architectures — a convolutional baseline (XceptionNet) and a CNN-Transformer hybrid — on the FaceForensics++ benchmark.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The study is deliberately not limited to reporting accuracy. It evaluates whether a detector's performance survives conditions it was not trained on: unseen manipulation techniques and unseen compression levels — the conditions any real-world deployment will actually face.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The outcome is both an empirical answer (which architecture generalizes better, and by how much) and an interpretive one (why), supported by a working software demonstration.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Why It Is Necessary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Deepfake technology has moved from a research curiosity to an active misinformation and fraud vector — fabricated video evidence, non-consensual synthetic media, and identity-based fraud are documented, growing harms.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Generation tools have become significantly more accessible (consumer applications, open-source models) even as detection research has not kept pace at the same rate — the gap between what can be generated and what can be reliably detected is widening.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Detectors that perform well only under laboratory conditions provide false assurance: a system reporting 99% accuracy in a controlled benchmark can fail silently the moment it encounters real-world content, and that failure is invisible until it is too late to matter.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Establishing exactly how much accuracy is lost under realistic distribution shift — and why — is therefore not an academic refinement; it is a precondition for responsibly deploying any such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2.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Formally: given a face video, produce a binary decision (authentic / manipulated) that remains reliable not only under the manipulation method and compression level seen during training, but also under others encountered after deployment.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The great majority of published detectors are evaluated under matched train/test conditions — trained and tested on the same manipulation method and the same compression level. This produces an optimistic, non-representative measure of real-world performance.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This project treats generalization itself — not same-distribution accuracy — as the primary object of study, and measures it directly rather than assuming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2.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Why This Problem Is Difficult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Different manipulation techniques leave fundamentally different artifacts: autoencoder-based face-swapping, landmark-driven reenactment, graphics-based swapping, and neural-texture rendering each produce distinct, technique-specific low-level signatures rather than one shared "fake" signature.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A detector trained to recognize one signature has no inherent guarantee of recognizing another — generalization across manipulation types is an open problem, not a solved one, as this study's own results later confirm.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Video compression, which is universal in real-world distribution (social media, messaging platforms), further degrades or removes the very artifacts a detector was trained to rely on.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The problem is also adversarial by nature: as detection methods improve, generation methods adapt in response, making this a continuously moving target rather than a fixed classification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2.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Why We Chose to Address This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The FaceForensics++ literature has established strong same-distribution benchmarks, but rigorous, head-to-head architecture comparisons under cross-manipulation and cross-compression conditions — with an interpretability layer explaining the results — remain comparatively under-studied.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This creates a well-scoped, testable, and practically important research question: does a more modern, attention-based architecture close the generalization gap that plain convolutional detectors exhibit, or does it not?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–  Answering this question with a controlled experiment — identical data, identical training protocol, architecture as the only variable — yields a result that is directly useful to anyone selecting a detector architecture for real deployment, not only of academic interest.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3.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528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95959"/>
                </a:solidFill>
                <a:latin typeface="Calibri"/>
              </a:rPr>
              <a:t>A controlled, six-stage experimental pipeline, applied identically to both architectures.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50000"/>
            <a:ext cx="1750000" cy="330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350000"/>
            <a:ext cx="1750000" cy="43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080" y="2440000"/>
            <a:ext cx="151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080" y="287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</a:rPr>
              <a:t>Raw Video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080" y="3480000"/>
            <a:ext cx="1510000" cy="2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FaceForensics++ c23: real footage + 4 manipulation methods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48080" y="2350000"/>
            <a:ext cx="1750000" cy="330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48080" y="2350000"/>
            <a:ext cx="1750000" cy="43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8080" y="2440000"/>
            <a:ext cx="151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8080" y="287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</a:rPr>
              <a:t>Face 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8080" y="3480000"/>
            <a:ext cx="1510000" cy="2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MTCNN face detection, 20 frames/video, 1.3x crop margin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6080" y="2350000"/>
            <a:ext cx="1750000" cy="330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6080" y="2350000"/>
            <a:ext cx="1750000" cy="43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6080" y="2440000"/>
            <a:ext cx="151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080" y="287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</a:rPr>
              <a:t>Official Splits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6080" y="3480000"/>
            <a:ext cx="1510000" cy="2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Video-level train/val/test — prevents identity leakage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4080" y="2350000"/>
            <a:ext cx="1750000" cy="330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64080" y="2350000"/>
            <a:ext cx="1750000" cy="43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4080" y="2440000"/>
            <a:ext cx="151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4080" y="287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</a:rPr>
              <a:t>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4080" y="3480000"/>
            <a:ext cx="1510000" cy="2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Identical optimizer, schedule, and batch size for both models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72080" y="2350000"/>
            <a:ext cx="1750000" cy="330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2080" y="2350000"/>
            <a:ext cx="1750000" cy="43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2080" y="2440000"/>
            <a:ext cx="151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2080" y="287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</a:rPr>
              <a:t>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2080" y="3480000"/>
            <a:ext cx="1510000" cy="2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Frame- and video-level Accuracy / F1 / AUC on held-out data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80080" y="2350000"/>
            <a:ext cx="1750000" cy="33000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0080" y="2350000"/>
            <a:ext cx="1750000" cy="430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00080" y="2440000"/>
            <a:ext cx="151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0080" y="287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A1A1A"/>
                </a:solidFill>
                <a:latin typeface="Calibri"/>
              </a:rPr>
              <a:t>Analysis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0080" y="3480000"/>
            <a:ext cx="1510000" cy="2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Generalization matrix, interpretability, live demonstration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3.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528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Calibri"/>
              </a:rPr>
              <a:t>FaceForensics++: 5,000 videos (1,000 authentic + 4×1,000 manipulated across Deepfakes, Face2Face, FaceSwap, NeuralTextures), official video-level splits, MTCNN preprocessing to ~99,987 face crops. Data quality verified via IQR outlier analysis prior to preprocessing.</a:t>
            </a:r>
          </a:p>
        </p:txBody>
      </p:sp>
      <p:pic>
        <p:nvPicPr>
          <p:cNvPr id="7" name="Picture 6" descr="outlie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00000"/>
            <a:ext cx="7000000" cy="345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914400" y="2500000"/>
            <a:ext cx="3637215" cy="41148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00" y="2680000"/>
            <a:ext cx="3180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Calibri"/>
              </a:rPr>
              <a:t>DATA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43000" y="3000000"/>
            <a:ext cx="3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00" y="3340000"/>
            <a:ext cx="3180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videos analyzed (real + 4 methods)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00" y="4204933"/>
            <a:ext cx="3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502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3000" y="4544933"/>
            <a:ext cx="3180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outliers flagged and excluded (10.0%)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3000" y="5409866"/>
            <a:ext cx="3180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99,987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00" y="5749866"/>
            <a:ext cx="3180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face crops in the final training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3.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Architecture I — XceptionNet (Baseline)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A convolutional network built from depthwise-separable convolutions (Chollet, 2017), ImageNet-pretrained and widely used as the reference detector in the face-forgery-detection literature.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Produces a 2048-dimensional pooled feature vector, followed by a dropout and linear classification layer.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Structurally local: every layer operates on a bounded spatial neighborhood; there is no mechanism for directly relating two distant regions of the frame in a single step.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Selected specifically because it is the architecture most cross-manipulation generalization claims in prior work are benchmarked against — using it here keeps our results directly comparable to that literature.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3.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Architecture II — CNN-ViT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Combines a ResNet-50 convolutional feature extractor (stages 1–3) with a 6-layer, 8-head Transformer encoder operating on the resulting 14×14 feature grid, tokenized to 196 patches plus a classification token.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The central hypothesis under test: self-attention allows every region of the frame to be related to every other region directly, which may allow the model to detect global inconsistencies — such as a mismatched lighting or blending boundary — that a convolutional network can only approximate indirectly through depth.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Trained under exactly the same optimizer, learning-rate schedule, batch size, and data as the baseline — architecture is the only variable, by design, so any difference in outcome is attributable to it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3.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Why This Approach Is Innovative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–  A controlled, head-to-head comparison of a convolutional and an attention-based architecture, evaluated specifically for generalization rather than same-distribution accuracy alone — a comparison largely absent from prior published work on this dataset.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–  A complete 4×4 cross-manipulation evaluation matrix per architecture, rather than the single train/test condition most published results report.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–  Transparent handling of a real data-access constraint: with official high-compression data unavailable, a locally re-compressed proxy test set was constructed and clearly documented as an approximation, rather than the experiment being omitted.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–  An interpretability layer (Grad-CAM) that explains why generalization succeeds or fails, rather than reporting only that it does — turning a numerical result into a mechanistic explanation.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1A1A1A"/>
                </a:solidFill>
                <a:latin typeface="Calibri"/>
              </a:rPr>
              <a:t>–  Delivered as a working, testable software artifact — a live prediction interface — rather than as offline metrics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Experiment 1 — Baseline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Calibri"/>
              </a:rPr>
              <a:t>Both architectures trained and tested on the same distribution — all four manipulation methods, c23 compression.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9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1700000"/>
                <a:gridCol w="1700000"/>
                <a:gridCol w="1700000"/>
                <a:gridCol w="1700000"/>
                <a:gridCol w="1700000"/>
              </a:tblGrid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Video Acc.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Video F1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Video AUC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Frame Acc.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Frame AUC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97.29%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95.49%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94.71%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92.76%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621640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721640"/>
            <a:ext cx="108528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XceptionNet leads on every same-distribution metric measured. This reflects performance under the most favorable possible test condition; the following experiments assess whether it persists under distribution shift.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Experiment 2 — Cross-Manipulation Generalization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528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Calibri"/>
              </a:rPr>
              <a:t>Each model trained on one manipulation method and evaluated on all four — the diagonal is same-manipulation; the off-diagonal is the actual generalization test.</a:t>
            </a:r>
          </a:p>
        </p:txBody>
      </p:sp>
      <p:pic>
        <p:nvPicPr>
          <p:cNvPr id="7" name="Picture 6" descr="cross_manipulation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80000"/>
            <a:ext cx="7440000" cy="300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5320000"/>
            <a:ext cx="10852800" cy="11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60000"/>
            <a:ext cx="104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Calibri"/>
              </a:rPr>
              <a:t>PRINCIPAL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80000"/>
            <a:ext cx="104528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1A1A1A"/>
                </a:solidFill>
                <a:latin typeface="Calibri"/>
              </a:rPr>
              <a:t>The hypothesis that attention improves generalization does not hold: XceptionNet records both a higher same-distribution AUC and a smaller generalization gap (0.398) than the CNN-ViT hybrid (0.421). Both architectures fall to worse-than-random on their most difficult cell (Deepfakes → FaceSwap: 0.256 / 0.198 AUC).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Experiment 3 — Compression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Calibri"/>
              </a:rPr>
              <a:t>Official high-compression (c40) data access was pending; a locally re-compressed proxy test set was used instead, evaluation-only, clearly documented as an approximation (see PROJECT_LOG.md).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4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2600000"/>
                <a:gridCol w="2600000"/>
                <a:gridCol w="2600000"/>
              </a:tblGrid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c23 AUC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Proxy c40 AUC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0.8018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– 0.194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0.8172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– 0.166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621640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721640"/>
            <a:ext cx="108528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Calibri"/>
              </a:rPr>
              <a:t>Both models degrade substantially under heavier compression; the hybrid's decline is marginally smaller, the one condition under which it edges ahead of the baseline.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Interpretability — Grad-CAM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528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Calibri"/>
              </a:rPr>
              <a:t>Same video, same Deepfakes-only checkpoint, two manipulation methods. Top: same-manipulation (correct). Bottom: cross-manipulation to FaceSwap, the weakest cell (correct becomes confidently incorrect).</a:t>
            </a:r>
          </a:p>
        </p:txBody>
      </p:sp>
      <p:pic>
        <p:nvPicPr>
          <p:cNvPr id="7" name="Picture 6" descr="gradca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868000" cy="420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782400" y="2286000"/>
            <a:ext cx="4769215" cy="411480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11000" y="2466000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F3864"/>
                </a:solidFill>
                <a:latin typeface="Calibri"/>
              </a:rPr>
              <a:t>DF → FS (WORST CELL)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1000" y="2786000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0.256 / 0.198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1000" y="3126000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cross-manipulation AUC — worse than random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1000" y="3990933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1.000 → 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1000" y="4330933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XceptionNet fake-probability collapse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1000" y="5195866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A1A1A"/>
                </a:solidFill>
                <a:latin typeface="Calibri"/>
              </a:rPr>
              <a:t>face → 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1000" y="5535866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where model attention relocates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Live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A working prediction interface (FastAPI backend, browser front end): a user uploads an image or short video and receives a real/fake probability from either trained model, using the identical preprocessing pipeline applied during training and evaluation.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Verified against a held-out set of test-split videos never seen during training — correctly and confidently classified by both models, XceptionNet with visibly higher confidence, consistent with its measured baseline advantage.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Also tested informally against an out-of-distribution image circulating online, outside FaceForensics++ entirely: both models were confidently incorrect — a live demonstration of the generalization limitation measured formally in Experiment 2, not a contradiction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XceptionNet outperformed the CNN-ViT hybrid on every metric measured across all three experiments — same-distribution accuracy, cross-manipulation generalization, and, marginally, compression robustness — contradicting the initial hypothesis that self-attention would improve generalization on this task.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Both architectures share the same underlying limitation: each learns a narrow, manipulation-method-specific signature rather than a general indicator of facial manipulation, a conclusion supported both numerically (the generalization-gap results) and visually (the Grad-CAM analysis).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Practically, this indicates that a face-forgery detector is only as reliable as the diversity of manipulation types represented in its training data — deployment beyond that coverage requires either broader training data or an explicit "out-of-distribution / uncertain" decision path, since a confident incorrect answer is materially worse than an honest uncertain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Repeat Experiment 3 against official raw (c0) and high-compression (c40) data once FaceForensics++ access is approved, replacing the current documented proxy with the genuine benchmark condition.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Repeat training across multiple random seeds to establish statistical confidence intervals around the reported metrics.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Extend the Grad-CAM analysis to a cross-manipulation cell with near-random (0.5 AUC) rather than worse-than-random performance, to examine whether genuine model uncertainty produces a different attention pattern than confident misclassification.</a:t>
            </a:r>
          </a:p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550" b="0">
                <a:solidFill>
                  <a:srgbClr val="1A1A1A"/>
                </a:solidFill>
                <a:latin typeface="Calibri"/>
              </a:rPr>
              <a:t>–  Evaluate additional manipulation techniques beyond FaceForensics++'s original four, to test whether the observed generalization gap extends to more recent, diffusion-based generation methods.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864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Calibri"/>
              </a:rPr>
              <a:t>References &amp; Contributors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5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  <a:latin typeface="Calibri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0000"/>
            <a:ext cx="10852800" cy="1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–  Rössler, A. et al. (2019). FaceForensics++: Learning to Detect Manipulated Facial Images. ICCV.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–  Chollet, F. (2017). Xception: Deep Learning with Depthwise Separable Convolutions. CVPR.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–  Dosovitskiy, A. et al. (2021). An Image is Worth 16x16 Words: Transformers for Image Recognition at Scale. ICLR.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–  Selvaraju, R. R. et al. (2017). Grad-CAM: Visual Explanations from Deep Networks via Gradient-based Localization. ICCV.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900000"/>
            <a:ext cx="10852800" cy="127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8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  <a:latin typeface="Calibri"/>
              </a:rPr>
              <a:t>CONTRIBUTORS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20000"/>
            <a:ext cx="108528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Calibri"/>
              </a:rPr>
              <a:t>–  Venugopalan Gangadharan — CB.AI.U4AID25115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Calibri"/>
              </a:rPr>
              <a:t>–  Vipin Sudhakar — CB.AI.U4AID25166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Calibri"/>
              </a:rPr>
              <a:t>–  Rithvik Arulprakash — CB.AI.U4AID25148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Calibri"/>
              </a:rPr>
              <a:t>–  Harshith Kv — CB.AI.U4AID25119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8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Calibri"/>
              </a:rPr>
              <a:t>Department of Artificial Intelligence &amp; Data Science, Amrita Vishwa Vidyapeetham, Coimbatore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3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  <a:latin typeface="Calibri"/>
              </a:rPr>
              <a:t>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80000"/>
            <a:ext cx="10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github.com/DUNE-ODYSSEY/deepfake-detection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0528"/>
            <a:ext cx="8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alibri"/>
              </a:rPr>
              <a:t>Deepfake Detection: XceptionNet vs. CNN-ViT Hybrid — 23AID205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95959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