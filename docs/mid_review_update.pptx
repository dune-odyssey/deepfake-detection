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2B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1488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 spc="180">
                <a:solidFill>
                  <a:srgbClr val="22B8CF"/>
                </a:solidFill>
                <a:latin typeface="Calibri"/>
              </a:rPr>
              <a:t>AIML COURSE PROJECT · MID-REVIEW UPDATE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468880"/>
            <a:ext cx="1033272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3400" b="1" i="0">
                <a:solidFill>
                  <a:srgbClr val="FFFFFF"/>
                </a:solidFill>
                <a:latin typeface="Calibri"/>
              </a:rPr>
              <a:t>Deepfake Detection:</a:t>
            </a:r>
          </a:p>
          <a:p>
            <a:pPr>
              <a:lnSpc>
                <a:spcPct val="108000"/>
              </a:lnSpc>
            </a:pPr>
            <a:r>
              <a:rPr sz="3400" b="1" i="0">
                <a:solidFill>
                  <a:srgbClr val="FFFFFF"/>
                </a:solidFill>
                <a:latin typeface="Calibri"/>
              </a:rPr>
              <a:t>XceptionNet vs. CNN-ViT Hybrid on FaceForensics++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343400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1">
                <a:solidFill>
                  <a:srgbClr val="94A3B8"/>
                </a:solidFill>
                <a:latin typeface="Calibri"/>
              </a:rPr>
              <a:t>Cross-manipulation generalization and compression robustness, compared across architectures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5074920"/>
            <a:ext cx="457200" cy="27432"/>
          </a:xfrm>
          <a:prstGeom prst="rect">
            <a:avLst/>
          </a:prstGeom>
          <a:solidFill>
            <a:srgbClr val="22B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9893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5E9F0"/>
                </a:solidFill>
                <a:latin typeface="Calibri"/>
              </a:rPr>
              <a:t>Venugopalan Gangadharan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2636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AI &amp; Data Science · Amrita Vishwa Vidyapeetham, Coimbatore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 spc="150">
                <a:solidFill>
                  <a:srgbClr val="0E7490"/>
                </a:solidFill>
                <a:latin typeface="Calibri"/>
              </a:rPr>
              <a:t>PROJECT RECAP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A202C"/>
                </a:solidFill>
                <a:latin typeface="Calibri"/>
              </a:rPr>
              <a:t>What We're Building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502920" cy="41148"/>
          </a:xfrm>
          <a:prstGeom prst="rect">
            <a:avLst/>
          </a:prstGeom>
          <a:solidFill>
            <a:srgbClr val="22B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0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Calibri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8229600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600"/>
              </a:spcAft>
            </a:pPr>
            <a:r>
              <a:rPr sz="1600" b="1" i="0">
                <a:solidFill>
                  <a:srgbClr val="22B8CF"/>
                </a:solidFill>
                <a:latin typeface="Calibri"/>
              </a:rPr>
              <a:t>▸  </a:t>
            </a:r>
            <a:r>
              <a:rPr sz="1600" b="1" i="0">
                <a:solidFill>
                  <a:srgbClr val="1A202C"/>
                </a:solidFill>
                <a:latin typeface="Calibri"/>
              </a:rPr>
              <a:t>Comparing two detectors: </a:t>
            </a:r>
            <a:r>
              <a:rPr sz="1600" b="0" i="0">
                <a:solidFill>
                  <a:srgbClr val="1A202C"/>
                </a:solidFill>
                <a:latin typeface="Calibri"/>
              </a:rPr>
              <a:t>XceptionNet (CNN baseline) vs. a hybrid ResNet-50 + Transformer encoder.</a:t>
            </a:r>
          </a:p>
          <a:p>
            <a:pPr>
              <a:spcAft>
                <a:spcPts val="1600"/>
              </a:spcAft>
            </a:pPr>
            <a:r>
              <a:rPr sz="1600" b="1" i="0">
                <a:solidFill>
                  <a:srgbClr val="22B8CF"/>
                </a:solidFill>
                <a:latin typeface="Calibri"/>
              </a:rPr>
              <a:t>▸  </a:t>
            </a:r>
            <a:r>
              <a:rPr sz="1600" b="1" i="0">
                <a:solidFill>
                  <a:srgbClr val="1A202C"/>
                </a:solidFill>
                <a:latin typeface="Calibri"/>
              </a:rPr>
              <a:t>Core question: </a:t>
            </a:r>
            <a:r>
              <a:rPr sz="1600" b="0" i="0">
                <a:solidFill>
                  <a:srgbClr val="1A202C"/>
                </a:solidFill>
                <a:latin typeface="Calibri"/>
              </a:rPr>
              <a:t>which architecture generalizes better to manipulation types it never saw during training?</a:t>
            </a:r>
          </a:p>
          <a:p>
            <a:pPr>
              <a:spcAft>
                <a:spcPts val="1600"/>
              </a:spcAft>
            </a:pPr>
            <a:r>
              <a:rPr sz="1600" b="1" i="0">
                <a:solidFill>
                  <a:srgbClr val="22B8CF"/>
                </a:solidFill>
                <a:latin typeface="Calibri"/>
              </a:rPr>
              <a:t>▸  </a:t>
            </a:r>
            <a:r>
              <a:rPr sz="1600" b="1" i="0">
                <a:solidFill>
                  <a:srgbClr val="1A202C"/>
                </a:solidFill>
                <a:latin typeface="Calibri"/>
              </a:rPr>
              <a:t>Secondary question: </a:t>
            </a:r>
            <a:r>
              <a:rPr sz="1600" b="0" i="0">
                <a:solidFill>
                  <a:srgbClr val="1A202C"/>
                </a:solidFill>
                <a:latin typeface="Calibri"/>
              </a:rPr>
              <a:t>which is more robust when video compression degrades quality (c0 → c23 → c40)?</a:t>
            </a:r>
          </a:p>
          <a:p>
            <a:pPr>
              <a:spcAft>
                <a:spcPts val="1600"/>
              </a:spcAft>
            </a:pPr>
            <a:r>
              <a:rPr sz="1600" b="1" i="0">
                <a:solidFill>
                  <a:srgbClr val="22B8CF"/>
                </a:solidFill>
                <a:latin typeface="Calibri"/>
              </a:rPr>
              <a:t>▸  </a:t>
            </a:r>
            <a:r>
              <a:rPr sz="1600" b="1" i="0">
                <a:solidFill>
                  <a:srgbClr val="1A202C"/>
                </a:solidFill>
                <a:latin typeface="Calibri"/>
              </a:rPr>
              <a:t>Dataset: </a:t>
            </a:r>
            <a:r>
              <a:rPr sz="1600" b="0" i="0">
                <a:solidFill>
                  <a:srgbClr val="1A202C"/>
                </a:solidFill>
                <a:latin typeface="Calibri"/>
              </a:rPr>
              <a:t>FaceForensics++ — real videos + 4 manipulation methods (Deepfakes, Face2Face, FaceSwap, NeuralTextures).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0" y="1783080"/>
            <a:ext cx="2377440" cy="320040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0" y="201168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20">
                <a:solidFill>
                  <a:srgbClr val="0E7490"/>
                </a:solidFill>
                <a:latin typeface="Calibri"/>
              </a:rPr>
              <a:t>SCOPE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0" y="2423160"/>
            <a:ext cx="1828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0F172A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0" y="2807208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475569"/>
                </a:solidFill>
                <a:latin typeface="Calibri"/>
              </a:rPr>
              <a:t>Model architectures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0" y="3081528"/>
            <a:ext cx="1828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0F172A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0" y="3465576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475569"/>
                </a:solidFill>
                <a:latin typeface="Calibri"/>
              </a:rPr>
              <a:t>Manipulation methods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18320" y="3739896"/>
            <a:ext cx="1828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0F172A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0" y="4123944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475569"/>
                </a:solidFill>
                <a:latin typeface="Calibri"/>
              </a:rPr>
              <a:t>Compression levels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0" y="4398264"/>
            <a:ext cx="1828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0F172A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18320" y="478231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475569"/>
                </a:solidFill>
                <a:latin typeface="Calibri"/>
              </a:rPr>
              <a:t>Core experiments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Deepfake Detection — Mid-Review Update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Calibri"/>
              </a:rPr>
              <a:t>2/8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 spc="150">
                <a:solidFill>
                  <a:srgbClr val="0E7490"/>
                </a:solidFill>
                <a:latin typeface="Calibri"/>
              </a:rPr>
              <a:t>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A202C"/>
                </a:solidFill>
                <a:latin typeface="Calibri"/>
              </a:rPr>
              <a:t>End-to-End Pipeline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502920" cy="41148"/>
          </a:xfrm>
          <a:prstGeom prst="rect">
            <a:avLst/>
          </a:prstGeom>
          <a:solidFill>
            <a:srgbClr val="22B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0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Calibri"/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377440"/>
            <a:ext cx="1965960" cy="1828800"/>
          </a:xfrm>
          <a:prstGeom prst="rect">
            <a:avLst/>
          </a:prstGeom>
          <a:solidFill>
            <a:srgbClr val="0F172A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1" y="2560320"/>
            <a:ext cx="163677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22B8C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1" y="3154680"/>
            <a:ext cx="16367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Raw Videos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3611880"/>
            <a:ext cx="163677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FF++ real + manipulated</a:t>
            </a:r>
          </a:p>
        </p:txBody>
      </p:sp>
      <p:sp>
        <p:nvSpPr>
          <p:cNvPr id="11" name="Chevron 10"/>
          <p:cNvSpPr/>
          <p:nvPr/>
        </p:nvSpPr>
        <p:spPr>
          <a:xfrm>
            <a:off x="2633471" y="3172968"/>
            <a:ext cx="201168" cy="237744"/>
          </a:xfrm>
          <a:prstGeom prst="chevron">
            <a:avLst/>
          </a:prstGeom>
          <a:solidFill>
            <a:srgbClr val="22B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862072" y="2377440"/>
            <a:ext cx="1965960" cy="182880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26664" y="2560320"/>
            <a:ext cx="163677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22B8C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26664" y="3154680"/>
            <a:ext cx="16367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F172A"/>
                </a:solidFill>
                <a:latin typeface="Calibri"/>
              </a:rPr>
              <a:t>Face Crops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26664" y="3611880"/>
            <a:ext cx="163677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475569"/>
                </a:solidFill>
                <a:latin typeface="Calibri"/>
              </a:rPr>
              <a:t>MTCNN, margin-scaled</a:t>
            </a:r>
          </a:p>
        </p:txBody>
      </p:sp>
      <p:sp>
        <p:nvSpPr>
          <p:cNvPr id="16" name="Chevron 15"/>
          <p:cNvSpPr/>
          <p:nvPr/>
        </p:nvSpPr>
        <p:spPr>
          <a:xfrm>
            <a:off x="4855464" y="3172968"/>
            <a:ext cx="201168" cy="237744"/>
          </a:xfrm>
          <a:prstGeom prst="chevron">
            <a:avLst/>
          </a:prstGeom>
          <a:solidFill>
            <a:srgbClr val="22B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84064" y="2377440"/>
            <a:ext cx="1965960" cy="182880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48655" y="2560320"/>
            <a:ext cx="163677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22B8C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48655" y="3154680"/>
            <a:ext cx="16367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F172A"/>
                </a:solidFill>
                <a:latin typeface="Calibri"/>
              </a:rPr>
              <a:t>Train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48655" y="3611880"/>
            <a:ext cx="163677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475569"/>
                </a:solidFill>
                <a:latin typeface="Calibri"/>
              </a:rPr>
              <a:t>Xception &amp; CNN-ViT, AMP</a:t>
            </a:r>
          </a:p>
        </p:txBody>
      </p:sp>
      <p:sp>
        <p:nvSpPr>
          <p:cNvPr id="21" name="Chevron 20"/>
          <p:cNvSpPr/>
          <p:nvPr/>
        </p:nvSpPr>
        <p:spPr>
          <a:xfrm>
            <a:off x="7077455" y="3172968"/>
            <a:ext cx="201168" cy="237744"/>
          </a:xfrm>
          <a:prstGeom prst="chevron">
            <a:avLst/>
          </a:prstGeom>
          <a:solidFill>
            <a:srgbClr val="22B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306055" y="2377440"/>
            <a:ext cx="1965960" cy="182880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70648" y="2560320"/>
            <a:ext cx="163677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22B8CF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70648" y="3154680"/>
            <a:ext cx="16367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F172A"/>
                </a:solidFill>
                <a:latin typeface="Calibri"/>
              </a:rPr>
              <a:t>Evaluate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70648" y="3611880"/>
            <a:ext cx="163677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475569"/>
                </a:solidFill>
                <a:latin typeface="Calibri"/>
              </a:rPr>
              <a:t>cross-manip + compression</a:t>
            </a:r>
          </a:p>
        </p:txBody>
      </p:sp>
      <p:sp>
        <p:nvSpPr>
          <p:cNvPr id="26" name="Chevron 25"/>
          <p:cNvSpPr/>
          <p:nvPr/>
        </p:nvSpPr>
        <p:spPr>
          <a:xfrm>
            <a:off x="9299447" y="3172968"/>
            <a:ext cx="201168" cy="237744"/>
          </a:xfrm>
          <a:prstGeom prst="chevron">
            <a:avLst/>
          </a:prstGeom>
          <a:solidFill>
            <a:srgbClr val="22B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528047" y="2377440"/>
            <a:ext cx="1965960" cy="182880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92639" y="2560320"/>
            <a:ext cx="163677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22B8CF"/>
                </a:solidFill>
                <a:latin typeface="Calibr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92639" y="3154680"/>
            <a:ext cx="16367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F172A"/>
                </a:solidFill>
                <a:latin typeface="Calibri"/>
              </a:rPr>
              <a:t>Analyze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92639" y="3611880"/>
            <a:ext cx="163677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475569"/>
                </a:solidFill>
                <a:latin typeface="Calibri"/>
              </a:rPr>
              <a:t>heatmaps, gen. gap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45720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475569"/>
                </a:solidFill>
                <a:latin typeface="Calibri"/>
              </a:rPr>
              <a:t>Same optimizer, schedule, and data for both models — architecture is the only variable.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Deepfake Detection — Mid-Review Update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Calibri"/>
              </a:rPr>
              <a:t>3/8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 spc="150">
                <a:solidFill>
                  <a:srgbClr val="0E7490"/>
                </a:solidFill>
                <a:latin typeface="Calibri"/>
              </a:rPr>
              <a:t>EXPERIMENT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A202C"/>
                </a:solidFill>
                <a:latin typeface="Calibri"/>
              </a:rPr>
              <a:t>Three Experiments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502920" cy="41148"/>
          </a:xfrm>
          <a:prstGeom prst="rect">
            <a:avLst/>
          </a:prstGeom>
          <a:solidFill>
            <a:srgbClr val="22B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0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Calibri"/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3337560" cy="338328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783080"/>
            <a:ext cx="3337560" cy="73152"/>
          </a:xfrm>
          <a:prstGeom prst="rect">
            <a:avLst/>
          </a:prstGeom>
          <a:solidFill>
            <a:srgbClr val="22B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57400"/>
            <a:ext cx="2880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E7490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514600"/>
            <a:ext cx="2880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F172A"/>
                </a:solidFill>
                <a:latin typeface="Calibri"/>
              </a:rPr>
              <a:t>Baseline Comparison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246120"/>
            <a:ext cx="28803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475569"/>
                </a:solidFill>
                <a:latin typeface="Calibri"/>
              </a:rPr>
              <a:t>Both models trained + tested on all 4 methods, c23.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" y="4343400"/>
            <a:ext cx="288036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4498848"/>
            <a:ext cx="2880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1">
                <a:solidFill>
                  <a:srgbClr val="0E7490"/>
                </a:solidFill>
                <a:latin typeface="Calibri"/>
              </a:rPr>
              <a:t>→ Headline accuracy / F1 / AUC comparison.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70248" y="1783080"/>
            <a:ext cx="3337560" cy="338328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0248" y="1783080"/>
            <a:ext cx="3337560" cy="73152"/>
          </a:xfrm>
          <a:prstGeom prst="rect">
            <a:avLst/>
          </a:prstGeom>
          <a:solidFill>
            <a:srgbClr val="22B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98848" y="2057400"/>
            <a:ext cx="2880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E7490"/>
                </a:solidFill>
                <a:latin typeface="Calibri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98848" y="2514600"/>
            <a:ext cx="2880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F172A"/>
                </a:solidFill>
                <a:latin typeface="Calibri"/>
              </a:rPr>
              <a:t>Cross-Manipulation Matrix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98848" y="3246120"/>
            <a:ext cx="28803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475569"/>
                </a:solidFill>
                <a:latin typeface="Calibri"/>
              </a:rPr>
              <a:t>Train on ONE method, test on all 4 (4×4 per model).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98848" y="4343400"/>
            <a:ext cx="288036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98848" y="4498848"/>
            <a:ext cx="2880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1">
                <a:solidFill>
                  <a:srgbClr val="0E7490"/>
                </a:solidFill>
                <a:latin typeface="Calibri"/>
              </a:rPr>
              <a:t>→ The novelty — who survives unseen forgery types.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00415" y="1783080"/>
            <a:ext cx="3337560" cy="338328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00415" y="1783080"/>
            <a:ext cx="3337560" cy="73152"/>
          </a:xfrm>
          <a:prstGeom prst="rect">
            <a:avLst/>
          </a:prstGeom>
          <a:solidFill>
            <a:srgbClr val="22B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29015" y="2057400"/>
            <a:ext cx="2880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E7490"/>
                </a:solidFill>
                <a:latin typeface="Calibri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29015" y="2514600"/>
            <a:ext cx="2880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F172A"/>
                </a:solidFill>
                <a:latin typeface="Calibri"/>
              </a:rPr>
              <a:t>Compression Robustness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29015" y="3246120"/>
            <a:ext cx="28803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475569"/>
                </a:solidFill>
                <a:latin typeface="Calibri"/>
              </a:rPr>
              <a:t>Train c23 → test c0/c23/c40 (and train c40 →).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29015" y="4343400"/>
            <a:ext cx="288036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29015" y="4498848"/>
            <a:ext cx="2880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1">
                <a:solidFill>
                  <a:srgbClr val="0E7490"/>
                </a:solidFill>
                <a:latin typeface="Calibri"/>
              </a:rPr>
              <a:t>→ Robustness to real-world compression.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Deepfake Detection — Mid-Review Update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Calibri"/>
              </a:rPr>
              <a:t>4/8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 spc="150">
                <a:solidFill>
                  <a:srgbClr val="0E7490"/>
                </a:solidFill>
                <a:latin typeface="Calibri"/>
              </a:rPr>
              <a:t>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A202C"/>
                </a:solidFill>
                <a:latin typeface="Calibri"/>
              </a:rPr>
              <a:t>What's Done, What's Left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502920" cy="41148"/>
          </a:xfrm>
          <a:prstGeom prst="rect">
            <a:avLst/>
          </a:prstGeom>
          <a:solidFill>
            <a:srgbClr val="22B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0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Calibri"/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5349240" cy="411480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783080"/>
            <a:ext cx="5349240" cy="50292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901952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 spc="100">
                <a:solidFill>
                  <a:srgbClr val="FFFFFF"/>
                </a:solidFill>
                <a:latin typeface="Calibri"/>
              </a:rPr>
              <a:t>✓  DONE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14600"/>
            <a:ext cx="484632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250" b="1" i="0">
                <a:solidFill>
                  <a:srgbClr val="16A34A"/>
                </a:solidFill>
                <a:latin typeface="Calibri"/>
              </a:rPr>
              <a:t>▸  </a:t>
            </a:r>
            <a:r>
              <a:rPr sz="1250" b="0" i="0">
                <a:solidFill>
                  <a:srgbClr val="1A202C"/>
                </a:solidFill>
                <a:latin typeface="Calibri"/>
              </a:rPr>
              <a:t>Full pipeline written: preprocessing, training, evaluation, analysis</a:t>
            </a:r>
          </a:p>
          <a:p>
            <a:pPr>
              <a:spcAft>
                <a:spcPts val="1000"/>
              </a:spcAft>
            </a:pPr>
            <a:r>
              <a:rPr sz="1250" b="1" i="0">
                <a:solidFill>
                  <a:srgbClr val="16A34A"/>
                </a:solidFill>
                <a:latin typeface="Calibri"/>
              </a:rPr>
              <a:t>▸  </a:t>
            </a:r>
            <a:r>
              <a:rPr sz="1250" b="0" i="0">
                <a:solidFill>
                  <a:srgbClr val="1A202C"/>
                </a:solidFill>
                <a:latin typeface="Calibri"/>
              </a:rPr>
              <a:t>Dev environment set up &amp; verified (Python 3.11, PyTorch 2.6 + CUDA)</a:t>
            </a:r>
          </a:p>
          <a:p>
            <a:pPr>
              <a:spcAft>
                <a:spcPts val="1000"/>
              </a:spcAft>
            </a:pPr>
            <a:r>
              <a:rPr sz="1250" b="1" i="0">
                <a:solidFill>
                  <a:srgbClr val="16A34A"/>
                </a:solidFill>
                <a:latin typeface="Calibri"/>
              </a:rPr>
              <a:t>▸  </a:t>
            </a:r>
            <a:r>
              <a:rPr sz="1250" b="0" i="0">
                <a:solidFill>
                  <a:srgbClr val="1A202C"/>
                </a:solidFill>
                <a:latin typeface="Calibri"/>
              </a:rPr>
              <a:t>Confirmed GPU (RTX 3060, 6GB) working end-to-end</a:t>
            </a:r>
          </a:p>
          <a:p>
            <a:pPr>
              <a:spcAft>
                <a:spcPts val="1000"/>
              </a:spcAft>
            </a:pPr>
            <a:r>
              <a:rPr sz="1250" b="1" i="0">
                <a:solidFill>
                  <a:srgbClr val="16A34A"/>
                </a:solidFill>
                <a:latin typeface="Calibri"/>
              </a:rPr>
              <a:t>▸  </a:t>
            </a:r>
            <a:r>
              <a:rPr sz="1250" b="0" i="0">
                <a:solidFill>
                  <a:srgbClr val="1A202C"/>
                </a:solidFill>
                <a:latin typeface="Calibri"/>
              </a:rPr>
              <a:t>Benchmarked GPU capacity — found &amp; fixed a silent memory-paging issue</a:t>
            </a:r>
          </a:p>
          <a:p>
            <a:pPr>
              <a:spcAft>
                <a:spcPts val="1000"/>
              </a:spcAft>
            </a:pPr>
            <a:r>
              <a:rPr sz="1250" b="1" i="0">
                <a:solidFill>
                  <a:srgbClr val="16A34A"/>
                </a:solidFill>
                <a:latin typeface="Calibri"/>
              </a:rPr>
              <a:t>▸  </a:t>
            </a:r>
            <a:r>
              <a:rPr sz="1250" b="0" i="0">
                <a:solidFill>
                  <a:srgbClr val="1A202C"/>
                </a:solidFill>
                <a:latin typeface="Calibri"/>
              </a:rPr>
              <a:t>Established safe batch size (32) for both models</a:t>
            </a:r>
          </a:p>
          <a:p>
            <a:pPr>
              <a:spcAft>
                <a:spcPts val="1000"/>
              </a:spcAft>
            </a:pPr>
            <a:r>
              <a:rPr sz="1250" b="1" i="0">
                <a:solidFill>
                  <a:srgbClr val="16A34A"/>
                </a:solidFill>
                <a:latin typeface="Calibri"/>
              </a:rPr>
              <a:t>▸  </a:t>
            </a:r>
            <a:r>
              <a:rPr sz="1250" b="0" i="0">
                <a:solidFill>
                  <a:srgbClr val="1A202C"/>
                </a:solidFill>
                <a:latin typeface="Calibri"/>
              </a:rPr>
              <a:t>Colab fallback notebook prepared as backup compute</a:t>
            </a:r>
          </a:p>
          <a:p>
            <a:pPr>
              <a:spcAft>
                <a:spcPts val="1000"/>
              </a:spcAft>
            </a:pPr>
            <a:r>
              <a:rPr sz="1250" b="1" i="0">
                <a:solidFill>
                  <a:srgbClr val="16A34A"/>
                </a:solidFill>
                <a:latin typeface="Calibri"/>
              </a:rPr>
              <a:t>▸  </a:t>
            </a:r>
            <a:r>
              <a:rPr sz="1250" b="0" i="0">
                <a:solidFill>
                  <a:srgbClr val="1A202C"/>
                </a:solidFill>
                <a:latin typeface="Calibri"/>
              </a:rPr>
              <a:t>Code version-controlled and pushed to GitHub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783080"/>
            <a:ext cx="5349240" cy="411480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1783080"/>
            <a:ext cx="5349240" cy="5029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901952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 spc="100">
                <a:solidFill>
                  <a:srgbClr val="FFFFFF"/>
                </a:solidFill>
                <a:latin typeface="Calibri"/>
              </a:rPr>
              <a:t>◐  IN PROGRESS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14600"/>
            <a:ext cx="484632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1250" b="1" i="0">
                <a:solidFill>
                  <a:srgbClr val="F59E0B"/>
                </a:solidFill>
                <a:latin typeface="Calibri"/>
              </a:rPr>
              <a:t>▸  </a:t>
            </a:r>
            <a:r>
              <a:rPr sz="1250" b="1" i="0">
                <a:solidFill>
                  <a:srgbClr val="1A202C"/>
                </a:solidFill>
                <a:latin typeface="Calibri"/>
              </a:rPr>
              <a:t>Dataset access: </a:t>
            </a:r>
            <a:r>
              <a:rPr sz="1250" b="0" i="0">
                <a:solidFill>
                  <a:srgbClr val="1A202C"/>
                </a:solidFill>
                <a:latin typeface="Calibri"/>
              </a:rPr>
              <a:t>official FF++ form submitted, approval pending (~days)</a:t>
            </a:r>
          </a:p>
          <a:p>
            <a:pPr>
              <a:spcAft>
                <a:spcPts val="1400"/>
              </a:spcAft>
            </a:pPr>
            <a:r>
              <a:rPr sz="1250" b="1" i="0">
                <a:solidFill>
                  <a:srgbClr val="F59E0B"/>
                </a:solidFill>
                <a:latin typeface="Calibri"/>
              </a:rPr>
              <a:t>▸  </a:t>
            </a:r>
            <a:r>
              <a:rPr sz="1250" b="1" i="0">
                <a:solidFill>
                  <a:srgbClr val="1A202C"/>
                </a:solidFill>
                <a:latin typeface="Calibri"/>
              </a:rPr>
              <a:t>Dataset bridge: </a:t>
            </a:r>
            <a:r>
              <a:rPr sz="1250" b="0" i="0">
                <a:solidFill>
                  <a:srgbClr val="1A202C"/>
                </a:solidFill>
                <a:latin typeface="Calibri"/>
              </a:rPr>
              <a:t>Kaggle mirror identified for c23 data, download next</a:t>
            </a:r>
          </a:p>
          <a:p>
            <a:pPr>
              <a:spcAft>
                <a:spcPts val="1400"/>
              </a:spcAft>
            </a:pPr>
            <a:r>
              <a:rPr sz="1250" b="1" i="0">
                <a:solidFill>
                  <a:srgbClr val="F59E0B"/>
                </a:solidFill>
                <a:latin typeface="Calibri"/>
              </a:rPr>
              <a:t>▸  </a:t>
            </a:r>
            <a:r>
              <a:rPr sz="1250" b="1" i="0">
                <a:solidFill>
                  <a:srgbClr val="1A202C"/>
                </a:solidFill>
                <a:latin typeface="Calibri"/>
              </a:rPr>
              <a:t>Not yet started: </a:t>
            </a:r>
            <a:r>
              <a:rPr sz="1250" b="0" i="0">
                <a:solidFill>
                  <a:srgbClr val="1A202C"/>
                </a:solidFill>
                <a:latin typeface="Calibri"/>
              </a:rPr>
              <a:t>preprocessing, training runs, evaluation, analysis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Deepfake Detection — Mid-Review Update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Calibri"/>
              </a:rPr>
              <a:t>5/8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 spc="150">
                <a:solidFill>
                  <a:srgbClr val="0E7490"/>
                </a:solidFill>
                <a:latin typeface="Calibri"/>
              </a:rPr>
              <a:t>TECHNICAL FINDING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A202C"/>
                </a:solidFill>
                <a:latin typeface="Calibri"/>
              </a:rPr>
              <a:t>GPU Capacity Check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502920" cy="41148"/>
          </a:xfrm>
          <a:prstGeom prst="rect">
            <a:avLst/>
          </a:prstGeom>
          <a:solidFill>
            <a:srgbClr val="22B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0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Calibri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475569"/>
                </a:solidFill>
                <a:latin typeface="Calibri"/>
              </a:rPr>
              <a:t>Timed forward+backward+optimizer steps at increasing batch sizes on the 6GB RTX 3060.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86000"/>
            <a:ext cx="7406640" cy="391885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1" y="2286000"/>
            <a:ext cx="859536" cy="39188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Batch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19072" y="2286000"/>
            <a:ext cx="1453896" cy="39188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Xception ms/it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9272" y="2286000"/>
            <a:ext cx="1453896" cy="39188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Xception img/s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19472" y="2286000"/>
            <a:ext cx="1453896" cy="39188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CNN-ViT ms/it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19672" y="2286000"/>
            <a:ext cx="1453896" cy="39188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CNN-ViT img/s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677885"/>
            <a:ext cx="7406640" cy="391885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1" y="2677885"/>
            <a:ext cx="859536" cy="39188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A202C"/>
                </a:solidFill>
                <a:latin typeface="Calibri"/>
              </a:rPr>
              <a:t>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19072" y="2677885"/>
            <a:ext cx="1453896" cy="39188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1A202C"/>
                </a:solidFill>
                <a:latin typeface="Calibri"/>
              </a:rPr>
              <a:t>65.5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19272" y="2677885"/>
            <a:ext cx="1453896" cy="39188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1A202C"/>
                </a:solidFill>
                <a:latin typeface="Calibri"/>
              </a:rPr>
              <a:t>122.1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19472" y="2677885"/>
            <a:ext cx="1453896" cy="39188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1A202C"/>
                </a:solidFill>
                <a:latin typeface="Calibri"/>
              </a:rPr>
              <a:t>55.1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9672" y="2677885"/>
            <a:ext cx="1453896" cy="39188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1A202C"/>
                </a:solidFill>
                <a:latin typeface="Calibri"/>
              </a:rPr>
              <a:t>145.1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069771"/>
            <a:ext cx="7406640" cy="391885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1" y="3069771"/>
            <a:ext cx="859536" cy="39188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A202C"/>
                </a:solidFill>
                <a:latin typeface="Calibri"/>
              </a:rPr>
              <a:t>16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19072" y="3069771"/>
            <a:ext cx="1453896" cy="39188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1A202C"/>
                </a:solidFill>
                <a:latin typeface="Calibri"/>
              </a:rPr>
              <a:t>115.7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19272" y="3069771"/>
            <a:ext cx="1453896" cy="39188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1A202C"/>
                </a:solidFill>
                <a:latin typeface="Calibri"/>
              </a:rPr>
              <a:t>138.2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19472" y="3069771"/>
            <a:ext cx="1453896" cy="39188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1A202C"/>
                </a:solidFill>
                <a:latin typeface="Calibri"/>
              </a:rPr>
              <a:t>114.0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19672" y="3069771"/>
            <a:ext cx="1453896" cy="39188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1A202C"/>
                </a:solidFill>
                <a:latin typeface="Calibri"/>
              </a:rPr>
              <a:t>140.4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3461657"/>
            <a:ext cx="7406640" cy="391885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3231" y="3461657"/>
            <a:ext cx="859536" cy="39188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A202C"/>
                </a:solidFill>
                <a:latin typeface="Calibri"/>
              </a:rPr>
              <a:t>24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19072" y="3461657"/>
            <a:ext cx="1453896" cy="39188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1A202C"/>
                </a:solidFill>
                <a:latin typeface="Calibri"/>
              </a:rPr>
              <a:t>165.3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19272" y="3461657"/>
            <a:ext cx="1453896" cy="39188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1A202C"/>
                </a:solidFill>
                <a:latin typeface="Calibri"/>
              </a:rPr>
              <a:t>145.2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19472" y="3461657"/>
            <a:ext cx="1453896" cy="39188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1A202C"/>
                </a:solidFill>
                <a:latin typeface="Calibri"/>
              </a:rPr>
              <a:t>170.7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19672" y="3461657"/>
            <a:ext cx="1453896" cy="39188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1A202C"/>
                </a:solidFill>
                <a:latin typeface="Calibri"/>
              </a:rPr>
              <a:t>140.6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3853542"/>
            <a:ext cx="7406640" cy="391885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3231" y="3853542"/>
            <a:ext cx="859536" cy="39188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A202C"/>
                </a:solidFill>
                <a:latin typeface="Calibri"/>
              </a:rPr>
              <a:t>32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719072" y="3853542"/>
            <a:ext cx="1453896" cy="39188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1A202C"/>
                </a:solidFill>
                <a:latin typeface="Calibri"/>
              </a:rPr>
              <a:t>217.1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19272" y="3853542"/>
            <a:ext cx="1453896" cy="39188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1A202C"/>
                </a:solidFill>
                <a:latin typeface="Calibri"/>
              </a:rPr>
              <a:t>147.4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919472" y="3853542"/>
            <a:ext cx="1453896" cy="39188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1A202C"/>
                </a:solidFill>
                <a:latin typeface="Calibri"/>
              </a:rPr>
              <a:t>204.8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19672" y="3853542"/>
            <a:ext cx="1453896" cy="39188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1A202C"/>
                </a:solidFill>
                <a:latin typeface="Calibri"/>
              </a:rPr>
              <a:t>156.2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" y="4245428"/>
            <a:ext cx="7406640" cy="391885"/>
          </a:xfrm>
          <a:prstGeom prst="rect">
            <a:avLst/>
          </a:prstGeom>
          <a:solidFill>
            <a:srgbClr val="FEF3EE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13231" y="4245428"/>
            <a:ext cx="859536" cy="39188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A202C"/>
                </a:solidFill>
                <a:latin typeface="Calibri"/>
              </a:rPr>
              <a:t>48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719072" y="4245428"/>
            <a:ext cx="1453896" cy="39188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C2410C"/>
                </a:solidFill>
                <a:latin typeface="Calibri"/>
              </a:rPr>
              <a:t>2545.7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319272" y="4245428"/>
            <a:ext cx="1453896" cy="39188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C2410C"/>
                </a:solidFill>
                <a:latin typeface="Calibri"/>
              </a:rPr>
              <a:t>18.9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919472" y="4245428"/>
            <a:ext cx="1453896" cy="39188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C2410C"/>
                </a:solidFill>
                <a:latin typeface="Calibri"/>
              </a:rPr>
              <a:t>349.3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19672" y="4245428"/>
            <a:ext cx="1453896" cy="39188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C2410C"/>
                </a:solidFill>
                <a:latin typeface="Calibri"/>
              </a:rPr>
              <a:t>137.4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40080" y="4637314"/>
            <a:ext cx="7406640" cy="391885"/>
          </a:xfrm>
          <a:prstGeom prst="rect">
            <a:avLst/>
          </a:prstGeom>
          <a:solidFill>
            <a:srgbClr val="FEF3EE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13231" y="4637314"/>
            <a:ext cx="859536" cy="39188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A202C"/>
                </a:solidFill>
                <a:latin typeface="Calibri"/>
              </a:rPr>
              <a:t>64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719072" y="4637314"/>
            <a:ext cx="1453896" cy="39188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C2410C"/>
                </a:solidFill>
                <a:latin typeface="Calibri"/>
              </a:rPr>
              <a:t>10802.1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319272" y="4637314"/>
            <a:ext cx="1453896" cy="39188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C2410C"/>
                </a:solidFill>
                <a:latin typeface="Calibri"/>
              </a:rPr>
              <a:t>5.9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919472" y="4637314"/>
            <a:ext cx="1453896" cy="39188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C2410C"/>
                </a:solidFill>
                <a:latin typeface="Calibri"/>
              </a:rPr>
              <a:t>446.0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519672" y="4637314"/>
            <a:ext cx="1453896" cy="39188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C2410C"/>
                </a:solidFill>
                <a:latin typeface="Calibri"/>
              </a:rPr>
              <a:t>143.5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321040" y="2286000"/>
            <a:ext cx="3200400" cy="27432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549640" y="2487168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20">
                <a:solidFill>
                  <a:srgbClr val="22B8CF"/>
                </a:solidFill>
                <a:latin typeface="Calibri"/>
              </a:rPr>
              <a:t>FINDING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549640" y="2880360"/>
            <a:ext cx="27432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Xception silently pages to system RAM above batch 32 — 10–25× slower, no crash.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49640" y="4343400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Fix: cap batch size at 32 (already the script default) for both models.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Deepfake Detection — Mid-Review Update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Calibri"/>
              </a:rPr>
              <a:t>6/8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 spc="150">
                <a:solidFill>
                  <a:srgbClr val="0E7490"/>
                </a:solidFill>
                <a:latin typeface="Calibri"/>
              </a:rPr>
              <a:t>PLAN TO COMPLETION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A202C"/>
                </a:solidFill>
                <a:latin typeface="Calibri"/>
              </a:rPr>
              <a:t>Timeline (3-Week Runway)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502920" cy="41148"/>
          </a:xfrm>
          <a:prstGeom prst="rect">
            <a:avLst/>
          </a:prstGeom>
          <a:solidFill>
            <a:srgbClr val="22B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0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Calibri"/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920240"/>
            <a:ext cx="1417320" cy="109728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920240"/>
            <a:ext cx="141732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Week 1</a:t>
            </a:r>
          </a:p>
        </p:txBody>
      </p:sp>
      <p:sp>
        <p:nvSpPr>
          <p:cNvPr id="9" name="Rectangle 8"/>
          <p:cNvSpPr/>
          <p:nvPr/>
        </p:nvSpPr>
        <p:spPr>
          <a:xfrm>
            <a:off x="2194560" y="1920240"/>
            <a:ext cx="8595360" cy="109728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68880" y="1920240"/>
            <a:ext cx="813816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A202C"/>
                </a:solidFill>
                <a:latin typeface="Calibri"/>
              </a:rPr>
              <a:t>Finalize dataset: Kaggle download + official FF++ access; verify folder layout; dry-run preprocessing on a few videos.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298448" y="3017520"/>
            <a:ext cx="91440" cy="320040"/>
          </a:xfrm>
          <a:prstGeom prst="rect">
            <a:avLst/>
          </a:prstGeom>
          <a:solidFill>
            <a:srgbClr val="22B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3337560"/>
            <a:ext cx="1417320" cy="109728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337560"/>
            <a:ext cx="141732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Week 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194560" y="3337560"/>
            <a:ext cx="8595360" cy="109728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68880" y="3337560"/>
            <a:ext cx="813816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A202C"/>
                </a:solidFill>
                <a:latin typeface="Calibri"/>
              </a:rPr>
              <a:t>Run full training/evaluation matrix — 12 training runs + ~40 evaluations, est. 15–25 GPU-hours on local hardware.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298448" y="4434840"/>
            <a:ext cx="91440" cy="320040"/>
          </a:xfrm>
          <a:prstGeom prst="rect">
            <a:avLst/>
          </a:prstGeom>
          <a:solidFill>
            <a:srgbClr val="22B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4754880"/>
            <a:ext cx="1417320" cy="109728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754880"/>
            <a:ext cx="141732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Week 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94560" y="4754880"/>
            <a:ext cx="8595360" cy="109728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0" y="4754880"/>
            <a:ext cx="813816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A202C"/>
                </a:solidFill>
                <a:latin typeface="Calibri"/>
              </a:rPr>
              <a:t>Run analysis (heatmaps, generalization-gap tables, compression robustness); write up report and results.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Deepfake Detection — Mid-Review Update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Calibri"/>
              </a:rPr>
              <a:t>7/8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 spc="150">
                <a:solidFill>
                  <a:srgbClr val="22B8CF"/>
                </a:solidFill>
                <a:latin typeface="Calibri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On Track for Completion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502920" cy="36576"/>
          </a:xfrm>
          <a:prstGeom prst="rect">
            <a:avLst/>
          </a:prstGeom>
          <a:solidFill>
            <a:srgbClr val="22B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74519"/>
            <a:ext cx="6035040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600"/>
              </a:spcAft>
            </a:pPr>
            <a:r>
              <a:rPr sz="1450" b="1" i="0">
                <a:solidFill>
                  <a:srgbClr val="22B8CF"/>
                </a:solidFill>
                <a:latin typeface="Calibri"/>
              </a:rPr>
              <a:t>▸  </a:t>
            </a:r>
            <a:r>
              <a:rPr sz="1450" b="0" i="0">
                <a:solidFill>
                  <a:srgbClr val="E5E9F0"/>
                </a:solidFill>
                <a:latin typeface="Calibri"/>
              </a:rPr>
              <a:t>Full pipeline code-complete: preprocessing, training, evaluation, analysis</a:t>
            </a:r>
          </a:p>
          <a:p>
            <a:pPr>
              <a:spcAft>
                <a:spcPts val="1600"/>
              </a:spcAft>
            </a:pPr>
            <a:r>
              <a:rPr sz="1450" b="1" i="0">
                <a:solidFill>
                  <a:srgbClr val="22B8CF"/>
                </a:solidFill>
                <a:latin typeface="Calibri"/>
              </a:rPr>
              <a:t>▸  </a:t>
            </a:r>
            <a:r>
              <a:rPr sz="1450" b="0" i="0">
                <a:solidFill>
                  <a:srgbClr val="E5E9F0"/>
                </a:solidFill>
                <a:latin typeface="Calibri"/>
              </a:rPr>
              <a:t>Local GPU environment verified end-to-end, capacity limits known</a:t>
            </a:r>
          </a:p>
          <a:p>
            <a:pPr>
              <a:spcAft>
                <a:spcPts val="1600"/>
              </a:spcAft>
            </a:pPr>
            <a:r>
              <a:rPr sz="1450" b="1" i="0">
                <a:solidFill>
                  <a:srgbClr val="22B8CF"/>
                </a:solidFill>
                <a:latin typeface="Calibri"/>
              </a:rPr>
              <a:t>▸  </a:t>
            </a:r>
            <a:r>
              <a:rPr sz="1450" b="0" i="0">
                <a:solidFill>
                  <a:srgbClr val="E5E9F0"/>
                </a:solidFill>
                <a:latin typeface="Calibri"/>
              </a:rPr>
              <a:t>Dataset acquisition underway (official form + Kaggle bridge)</a:t>
            </a:r>
          </a:p>
          <a:p>
            <a:pPr>
              <a:spcAft>
                <a:spcPts val="1600"/>
              </a:spcAft>
            </a:pPr>
            <a:r>
              <a:rPr sz="1450" b="1" i="0">
                <a:solidFill>
                  <a:srgbClr val="22B8CF"/>
                </a:solidFill>
                <a:latin typeface="Calibri"/>
              </a:rPr>
              <a:t>▸  </a:t>
            </a:r>
            <a:r>
              <a:rPr sz="1450" b="0" i="0">
                <a:solidFill>
                  <a:srgbClr val="E5E9F0"/>
                </a:solidFill>
                <a:latin typeface="Calibri"/>
              </a:rPr>
              <a:t>On track for full experiment matrix within the 3-week window</a:t>
            </a:r>
          </a:p>
        </p:txBody>
      </p:sp>
      <p:sp>
        <p:nvSpPr>
          <p:cNvPr id="7" name="Rectangle 6"/>
          <p:cNvSpPr/>
          <p:nvPr/>
        </p:nvSpPr>
        <p:spPr>
          <a:xfrm>
            <a:off x="7040880" y="1874519"/>
            <a:ext cx="4526280" cy="320040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69480" y="2084831"/>
            <a:ext cx="4023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20">
                <a:solidFill>
                  <a:srgbClr val="F59E0B"/>
                </a:solidFill>
                <a:latin typeface="Calibri"/>
              </a:rPr>
              <a:t>MAIN RISK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69480" y="2450592"/>
            <a:ext cx="4023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E5E9F0"/>
                </a:solidFill>
                <a:latin typeface="Calibri"/>
              </a:rPr>
              <a:t>No credible Kaggle mirror for c40 compression — that experiment waits on official FF++ approval.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269480" y="3429000"/>
            <a:ext cx="4023360" cy="18288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69480" y="3611880"/>
            <a:ext cx="4023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20">
                <a:solidFill>
                  <a:srgbClr val="22B8CF"/>
                </a:solidFill>
                <a:latin typeface="Calibri"/>
              </a:rPr>
              <a:t>MITIGATION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69480" y="3977639"/>
            <a:ext cx="4023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E5E9F0"/>
                </a:solidFill>
                <a:latin typeface="Calibri"/>
              </a:rPr>
              <a:t>Run Experiments 1 &amp; 2 fully on c23 now; slot in Experiment 3 (compression) once c40 access clears.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Deepfake Detection — Mid-Review Update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8/8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