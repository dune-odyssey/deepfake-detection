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B8CF"/>
                </a:solidFill>
                <a:latin typeface="Calibri"/>
              </a:rPr>
              <a:t>AIML COURSE PROJECT · 23AID205 · END-SEMESTER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0424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Deepfake Detection on FaceForensics++: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Detectors Score Unseen Fakes Below Chance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XceptionNet vs. a CNN-ViT hybrid, and a follow-up study of a surprising failure: detectors that rank unseen fakes as more real than real faces.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E9F0"/>
                </a:solidFill>
                <a:latin typeface="Calibri"/>
              </a:rPr>
              <a:t>Venugopalan Gangadharan · Vipin Sudhakar · Rithvik Arulprakash · Harshith Kv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AI &amp; Data Science — Amrita Vishwa Vidyapeetham, Coimbatore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/>
              </a:rPr>
              <a:t>Motivation, Problem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52800" cy="43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0">
                <a:solidFill>
                  <a:srgbClr val="1A202C"/>
                </a:solidFill>
                <a:latin typeface="Calibri"/>
              </a:rPr>
              <a:t>▸  Deepfakes are a real misinformation and fraud risk, but detectors are usually judged on the same manipulation type they were trained on.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0">
                <a:solidFill>
                  <a:srgbClr val="1A202C"/>
                </a:solidFill>
                <a:latin typeface="Calibri"/>
              </a:rPr>
              <a:t>▸  Problem: a detector at 99% on its own manipulation can fail badly on a new one, and that failure is invisible until deployment.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0">
                <a:solidFill>
                  <a:srgbClr val="1A202C"/>
                </a:solidFill>
                <a:latin typeface="Calibri"/>
              </a:rPr>
              <a:t>▸  Objective 1: compare XceptionNet (CNN) and a CNN-ViT hybrid on identical data: does self-attention generalize better? Measure accuracy, cross-method transfer and compression robustness; explain with Grad-CAM; ship a live demo.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0">
                <a:solidFill>
                  <a:srgbClr val="1A202C"/>
                </a:solidFill>
                <a:latin typeface="Calibri"/>
              </a:rPr>
              <a:t>▸  Objective 2 (added after the results): explain why some cross-method scores fall below chance, and test a fix.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Deepfake Detection — End-Semester Review (23AID205)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/>
              </a:rPr>
              <a:t>End-to-End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746504" cy="3291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746504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031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B8C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974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202C"/>
                </a:solidFill>
                <a:latin typeface="Calibri"/>
              </a:rPr>
              <a:t>Raw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337560"/>
            <a:ext cx="1508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FF++ c23: real + 4 manipulation methods, 5,000 videos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44191" y="2011680"/>
            <a:ext cx="1746504" cy="3291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44191" y="2011680"/>
            <a:ext cx="1746504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3063" y="21031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B8C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3063" y="26974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202C"/>
                </a:solidFill>
                <a:latin typeface="Calibri"/>
              </a:rPr>
              <a:t>Face crops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3063" y="3337560"/>
            <a:ext cx="1508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Original: MTCNN, JPEG. Reference: dlib + alignment, PNG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8302" y="2011680"/>
            <a:ext cx="1746504" cy="3291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8302" y="2011680"/>
            <a:ext cx="1746504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7174" y="21031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B8C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7174" y="26974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202C"/>
                </a:solidFill>
                <a:latin typeface="Calibri"/>
              </a:rPr>
              <a:t>Official splits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7174" y="3337560"/>
            <a:ext cx="1508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Video-level train / val / test, no identity leakage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52413" y="2011680"/>
            <a:ext cx="1746504" cy="3291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52413" y="2011680"/>
            <a:ext cx="1746504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1285" y="21031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B8C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1285" y="26974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202C"/>
                </a:solidFill>
                <a:latin typeface="Calibri"/>
              </a:rPr>
              <a:t>Train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1285" y="3337560"/>
            <a:ext cx="1508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One method + real; AMP, early stop; 2–3 seeds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56524" y="2011680"/>
            <a:ext cx="1746504" cy="3291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56524" y="2011680"/>
            <a:ext cx="1746504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75396" y="21031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B8C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5396" y="26974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202C"/>
                </a:solidFill>
                <a:latin typeface="Calibri"/>
              </a:rPr>
              <a:t>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5396" y="3337560"/>
            <a:ext cx="1508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Video AUC on all 4 methods, 95% bootstrap CIs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60635" y="2011680"/>
            <a:ext cx="1746504" cy="3291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60635" y="2011680"/>
            <a:ext cx="1746504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79507" y="21031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B8C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79507" y="26974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A202C"/>
                </a:solidFill>
                <a:latin typeface="Calibri"/>
              </a:rPr>
              <a:t>Analyze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9507" y="3337560"/>
            <a:ext cx="1508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Image statistics, sign test, intervention, external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5321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Calibri"/>
              </a:rPr>
              <a:t>Every reported number is produced by a script from saved per-video scores; nothing is typed by hand.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Deepfake Detection — End-Semester Review (23AID205)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DATA &amp;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/>
              </a:rPr>
              <a:t>Dataset and Model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/>
              </a:rPr>
              <a:t>FaceForensics++ (Kaggle mirror, official splits): 1,000 real + 4×1,000 fake videos. External test: DeepFakeFace.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41640"/>
          <a:ext cx="10607040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560320"/>
                <a:gridCol w="2377440"/>
                <a:gridCol w="2377440"/>
              </a:tblGrid>
              <a:tr h="4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Pretraining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Input size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XceptionNet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ImageNet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299 px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20.8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CNN-ViT hybrid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from scratch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224 px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28.1 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ResNet-50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ImageNet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299 px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23.5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EfficientNet-B4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ImageNet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299 px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17.6 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421640"/>
            <a:ext cx="108528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XceptionNet vs. the hybrid is the course comparison; ResNet-50 and EfficientNet-B4 test whether the failure depends on the architecture. Data quality: 502 of 5,000 videos flagged as outliers (IQR) before preprocessing.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Deepfake Detection — End-Semester Review (23AID205)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RESULTS · EXPERIMENTS 1–3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/>
              </a:rPr>
              <a:t>Course Experiments: XceptionNet vs. CNN-ViT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/>
              </a:rPr>
              <a:t>Same-method, cross-method (train on one manipulation, test on others) and compression (c40 proxy) performance.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41640"/>
          <a:ext cx="1060704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2560320"/>
                <a:gridCol w="2560320"/>
              </a:tblGrid>
              <a:tr h="4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Same-method AUC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Cross-method AUC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Compression AUC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XceptionNet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0.996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0.597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0.802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CNN-ViT hybrid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0.984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0.571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0.817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81640"/>
            <a:ext cx="108528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XceptionNet wins on accuracy and generalization: the hybrid's expected advantage did not appear (a reported negative result). A FastAPI live demo runs both models on uploaded images and videos.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Deepfake Detection — End-Semester Review (23AID205)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KEY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/>
              </a:rPr>
              <a:t>Some Transfers Score Below Chance, Whatever the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/>
              </a:rPr>
              <a:t>Original vs. a fully rebuilt preprocessing pipeline (different detector, alignment, format, size, frames). Hatched = below chance.</a:t>
            </a:r>
          </a:p>
        </p:txBody>
      </p:sp>
      <p:pic>
        <p:nvPicPr>
          <p:cNvPr id="7" name="Picture 6" descr="F1_transfer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7615397" cy="31546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29797" y="2286000"/>
            <a:ext cx="3021818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8397" y="2466000"/>
            <a:ext cx="2564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/>
              </a:rPr>
              <a:t>REFERENCE PIPELINE, 3 SEEDS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8397" y="2786000"/>
            <a:ext cx="25646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0.26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8397" y="3126000"/>
            <a:ext cx="2564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DF → FS  [0.21, 0.31]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8397" y="3689700"/>
            <a:ext cx="25646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0.43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8397" y="4029700"/>
            <a:ext cx="2564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FS → NT  [0.37, 0.49]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8397" y="4593400"/>
            <a:ext cx="25646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0.26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8397" y="4933400"/>
            <a:ext cx="2564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DF → FS, original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8397" y="5497100"/>
            <a:ext cx="25646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17 / 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8397" y="5837100"/>
            <a:ext cx="2564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data and label audit checks passed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Deepfake Detection — End-Semester Review (23AID205)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/>
              </a:rPr>
              <a:t>Grad-CAM: What the Models Look At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/>
              </a:rPr>
              <a:t>Same Deepfakes-trained checkpoint, same video: its Deepfakes version vs. its FaceSwap version.</a:t>
            </a:r>
          </a:p>
        </p:txBody>
      </p:sp>
      <p:pic>
        <p:nvPicPr>
          <p:cNvPr id="7" name="Picture 6" descr="gradca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5238103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52503" y="2286000"/>
            <a:ext cx="5399112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1103" y="2466000"/>
            <a:ext cx="494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/>
              </a:rPr>
              <a:t>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103" y="2786000"/>
            <a:ext cx="4941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103" y="3126000"/>
            <a:ext cx="494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in-distribution: attention on the 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103" y="3689700"/>
            <a:ext cx="4941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Off-face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103" y="4029700"/>
            <a:ext cx="494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FaceSwap: Xception attention collapses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103" y="4593400"/>
            <a:ext cx="4941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Diffuse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1103" y="4933400"/>
            <a:ext cx="494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FaceSwap: hybrid attention spreads 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103" y="5497100"/>
            <a:ext cx="4941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0.00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103" y="5837100"/>
            <a:ext cx="494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fake probability on the FaceSwap video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Deepfake Detection — End-Semester Review (23AID205)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/>
              </a:rPr>
              <a:t>No Single Preprocessing Change Moves DF → FS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/>
              </a:rPr>
              <a:t>One factor changed at a time, 2 seeds each; change = paired difference vs. the reference over the same test videos.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41640"/>
          <a:ext cx="1060704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2011680"/>
                <a:gridCol w="1828800"/>
                <a:gridCol w="2011680"/>
              </a:tblGrid>
              <a:tr h="4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DF → FS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FS → NT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Reference (3 seeds)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0.258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0.428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JPEG quality 95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0.286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+0.028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0.442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+0.013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JPEG quality 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0.290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+0.032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0.472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+0.044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10 frames per video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0.271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+0.013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0.422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-0.006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Tight 1.0× crop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0.259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+0.001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0.470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+0.042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841640"/>
            <a:ext cx="108528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Not a pipeline bug: an audit of labels, splits, encoding and crops found no real-vs-fake difference. Predictions recorded beforehand held for 2 of 4 variants.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Deepfake Detection — End-Semester Review (23AID205)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/>
              </a:rPr>
              <a:t>A Sharpness Cue Explains Which Cells Invert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/>
              </a:rPr>
              <a:t>Deepfakes and NeuralTextures fakes are blurrier than real faces, FaceSwap fakes are sharper. Opposite shifts predict inverted transfer.</a:t>
            </a:r>
          </a:p>
        </p:txBody>
      </p:sp>
      <p:pic>
        <p:nvPicPr>
          <p:cNvPr id="7" name="Picture 6" descr="F4_sign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4677704" cy="3840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592104" y="2286000"/>
            <a:ext cx="5959511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0704" y="2466000"/>
            <a:ext cx="5502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/>
              </a:rPr>
              <a:t>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0704" y="2786000"/>
            <a:ext cx="55023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-0.48 / +0.37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0704" y="3126000"/>
            <a:ext cx="5502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sharpness d: Deepfakes / FaceSwap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0704" y="3689700"/>
            <a:ext cx="55023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ρ = 0.92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0704" y="4029700"/>
            <a:ext cx="5502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predicts our matrix (best of 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0704" y="4593400"/>
            <a:ext cx="55023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ρ = 0.73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0704" y="4933400"/>
            <a:ext cx="5502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predicts the published official-data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0704" y="5497100"/>
            <a:ext cx="55023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ρ = -0.27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0704" y="5837100"/>
            <a:ext cx="5502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DF model: blurrier real faces look fake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Deepfake Detection — End-Semester Review (23AID205)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INTERVENTION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/>
              </a:rPr>
              <a:t>Randomizing Sharpness Partly Fixes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/>
              </a:rPr>
              <a:t>Training with random blur/sharpen applied to real and fake alike. Paired change vs. the reference, 3 seeds.</a:t>
            </a:r>
          </a:p>
        </p:txBody>
      </p:sp>
      <p:pic>
        <p:nvPicPr>
          <p:cNvPr id="7" name="Picture 6" descr="F5_interv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5080955" cy="3840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95355" y="2286000"/>
            <a:ext cx="5556260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3955" y="2466000"/>
            <a:ext cx="5099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/>
              </a:rPr>
              <a:t>CHANGE IN 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3955" y="2786000"/>
            <a:ext cx="50990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+0.098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955" y="3126000"/>
            <a:ext cx="5099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DF → FS, now 0.36 (still below)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955" y="3689700"/>
            <a:ext cx="50990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+0.093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955" y="4029700"/>
            <a:ext cx="5099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FS → NT, now 0.52 (at chance)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3955" y="4593400"/>
            <a:ext cx="50990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-0.048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955" y="4933400"/>
            <a:ext cx="5099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FS → F2F, a small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955" y="5497100"/>
            <a:ext cx="50990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-0.000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3955" y="5837100"/>
            <a:ext cx="5099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in-domain accuracy unchanged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Deepfake Detection — End-Semester Review (23AID205)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GENERALIZATION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/>
              </a:rPr>
              <a:t>Same Failure Across Architectures, Not Across Datasets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03520" cy="4206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0352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ACROSS ARCHITECTURES — HOLDS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754880" cy="34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▸  Xception DF → FS: 0.26 (3 seeds)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▸  ResNet-50 DF → FS: 0.29, same call in 8/8 cells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▸  EfficientNet-B4 DF → FS: 0.26, same call in 8/8 cells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▸  Set by the training data, not the network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783080"/>
            <a:ext cx="5303520" cy="4206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783080"/>
            <a:ext cx="5303520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901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ACROSS DATASETS — DOES 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514600"/>
            <a:ext cx="4754880" cy="34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▸  DeepFakeFace: Stable Diffusion and InsightFace fakes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▸  Sharpness rule right in 2 of 4 cells: chance level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▸  SD text-to-image below chance for every model (0.32 / 0.40)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▸  The account explains FaceForensics++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Deepfake Detection — End-Semester Review (23AID205)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/>
              </a:rPr>
              <a:t>Verdict on the Four Claims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03520" cy="2057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03520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C1 · PREPROCESSING — NOT SUPPORTED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754880" cy="12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▸  Survives every preprocessing change tested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▸  Detector, alignment, format, size, frames, JPEG, crop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783080"/>
            <a:ext cx="5303520" cy="2057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783080"/>
            <a:ext cx="530352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901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C2 · MECHANISM — SUPPORTED IN FF++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514600"/>
            <a:ext cx="4754880" cy="12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▸  Sharpness sign predicts our and published matrices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▸  Fails on DeepFakeFace: within-benchmark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14800"/>
            <a:ext cx="5303520" cy="2057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530352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336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C3 · INTERVENTION — PARTIAL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4754880" cy="12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▸  Randomizing sharpness: +0.1 AUC on inverted cells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▸  DF → FS still below chance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4114800"/>
            <a:ext cx="5303520" cy="2057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4114800"/>
            <a:ext cx="530352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42336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C4 · ARCHITECTURE — SUPPORTED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4846320"/>
            <a:ext cx="4754880" cy="12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▸  Xception, ResNet-50, EfficientNet-B4 agree 8 / 8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▸  Set by the training data, not the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Deepfake Detection — End-Semester Review (23AID205)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/>
              </a:rPr>
              <a:t>Limitations, Future Work &amp;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03520" cy="2240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03520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754880" cy="14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▸  Kaggle mirror, not official FF++ (access pending)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▸  Mechanism is a strong candidate, not proof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▸  One 6 GB laptop GPU limited the experiments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783080"/>
            <a:ext cx="5303520" cy="2240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783080"/>
            <a:ext cx="5303520" cy="5029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901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514600"/>
            <a:ext cx="4754880" cy="14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▸  Re-run on official FaceForensics++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▸  Find the cue behind the remaining DF → FS gap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▸  Submit a short paper (draft: paper/main.pdf)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/>
              </a:rPr>
              <a:t>CONTRIBUTORS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02C"/>
                </a:solidFill>
                <a:latin typeface="Calibri"/>
              </a:rPr>
              <a:t>Venugopalan Gangadharan (CB.AI.U4AID25115) · Vipin Sudhakar (CB.AI.U4AID25166) · Rithvik Arulprakash (CB.AI.U4AID25148) · Harshith Kv (CB.AI.U4AID25119)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/>
              </a:rPr>
              <a:t>KEY 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035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Rössler et al., ICCV 2019 · Chollet, CVPR 2017 · Dosovitskiy et al., ICLR 2021 · Selvaraju et al., ICCV 2017 · Li et al., CVPR 2020 · Geirhos et al., 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2B8CF"/>
                </a:solidFill>
                <a:latin typeface="Calibri"/>
              </a:rPr>
              <a:t>github.com/DUNE-ODYSSEY/deepfake-detection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Deepfake Detection — End-Semester Review (23AID205)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