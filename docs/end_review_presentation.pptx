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AIML COURSE PROJECT · 23AID205 · END-SEMESTER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0424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Deepfake Detection on FaceForensics++:</a:t>
            </a:r>
          </a:p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Why Detectors Score Unseen Fakes Below Chance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XceptionNet vs. a CNN-ViT hybrid, and a follow-up study of a surprising failure: detectors that rank unseen fakes as more real than real faces.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E9F0"/>
                </a:solidFill>
                <a:latin typeface="Calibri"/>
              </a:rPr>
              <a:t>Venugopalan Gangadharan · Vipin Sudhakar · Rithvik Arulprakash · Harshith Kv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AI &amp; Data Science — Amrita Vishwa Vidyapeetham, Coimbatore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Motivation, Problem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Deepfakes are a real misinformation and fraud risk, but detectors are usually judged on the same manipulation type they were trained on.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Problem: a detector at 99% on its own manipulation can fail badly on a new one, and that failure is invisible until deployment.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1: compare XceptionNet (CNN) and a CNN-ViT hybrid on identical data and protocol: does self-attention generalize better?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2: measure same-method accuracy, the 4×4 cross-method matrix and compression robustness; explain failures with Grad-CAM; ship a live demo.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3 (added after the results): explain why some cross-method scores fall below chance, and test a fix.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2/23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Related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Rössler et al. (ICCV 2019), FaceForensics++: the 4-method benchmark and the XceptionNet baseline (Chollet, CVPR 2017).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Dosovitskiy et al. (ICLR 2021), Vision Transformer: motivates the hybrid's self-attention. Selvaraju et al. (ICCV 2017), Grad-CAM: our interpretability tool.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Li et al. (CVPR 2020), Face X-ray: Xception trained on Deepfakes scores 0.49 on FaceSwap with official data, so FaceSwap is already the hardest target.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Geirhos et al. (Nat. Mach. Intell. 2020), shortcut learning; Durall et al. and Frank et al. (2020), frequency artifacts in generated images.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Gap: below-chance transfer is reported but not explained per manipulation; we give a measurable cue that predicts which cells invert.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3/23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End-to-End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746504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746504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1031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974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Raw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337560"/>
            <a:ext cx="1508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FF++ c23: real + 4 manipulation methods, 5,000 videos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4191" y="2011680"/>
            <a:ext cx="1746504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44191" y="2011680"/>
            <a:ext cx="1746504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3063" y="21031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3063" y="26974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Face crops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3063" y="3337560"/>
            <a:ext cx="1508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Original: MTCNN, JPEG. Reference: dlib + alignment, PNG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48302" y="2011680"/>
            <a:ext cx="1746504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48302" y="2011680"/>
            <a:ext cx="1746504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7174" y="21031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7174" y="26974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Official splits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7174" y="3337560"/>
            <a:ext cx="1508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Video-level train / val / test, no identity leakage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52413" y="2011680"/>
            <a:ext cx="1746504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2413" y="2011680"/>
            <a:ext cx="1746504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1285" y="21031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1285" y="26974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Train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1285" y="3337560"/>
            <a:ext cx="1508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One method + real; AMP, early stop; 2–3 seeds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56524" y="2011680"/>
            <a:ext cx="1746504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56524" y="2011680"/>
            <a:ext cx="1746504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75396" y="21031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396" y="26974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Evaluate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5396" y="3337560"/>
            <a:ext cx="1508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Video AUC on all 4 methods, 95% bootstrap CIs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60635" y="2011680"/>
            <a:ext cx="1746504" cy="3291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60635" y="2011680"/>
            <a:ext cx="1746504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9507" y="210312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79507" y="2697480"/>
            <a:ext cx="1508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Analyze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79507" y="3337560"/>
            <a:ext cx="1508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Image statistics, sign test, intervention, external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321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Every reported number is produced by a script from saved per-video scores; nothing is typed by hand.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4/23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DATASET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Data: Source and Preparation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FaceForensics++: 1,000 real YouTube videos and 4×1,000 manipulated (Deepfakes, Face2Face, FaceSwap, NeuralTextures), c23 compression, official splits.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Source: a public Kaggle mirror (official access is still pending), so all results are labelled preliminary. An audit found no real-vs-fake differences in encoding.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Original crops: MTCNN, 1.3× margin, 20 frames per video, JPEG (~100k crops). Reference crops: dlib + landmark alignment, 256 px PNG, 32 frames (~105k crops).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External test set: DeepFakeFace (OpenRAIL licence): real IMDB-WIKI photos and fakes from Stable Diffusion and InsightFace, 1,000 sampled per class.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5/23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Data Quality: Outlier Check (IQR)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Per-video frame count and file size checked with box-plot IQR before preprocessing.</a:t>
            </a:r>
          </a:p>
        </p:txBody>
      </p:sp>
      <p:pic>
        <p:nvPicPr>
          <p:cNvPr id="7" name="Picture 6" descr="outlier_box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6776031" cy="33375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90431" y="2286000"/>
            <a:ext cx="3861184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19031" y="2466000"/>
            <a:ext cx="3403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19031" y="2786000"/>
            <a:ext cx="34039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9031" y="3126000"/>
            <a:ext cx="3403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videos analyzed (real + 4 methods)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9031" y="3689700"/>
            <a:ext cx="34039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209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9031" y="4029700"/>
            <a:ext cx="3403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flagged on frame count (4.2%)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9031" y="4593400"/>
            <a:ext cx="34039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326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9031" y="4933400"/>
            <a:ext cx="3403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flagged on file size (6.5%)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9031" y="5497100"/>
            <a:ext cx="34039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502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9031" y="5837100"/>
            <a:ext cx="34039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unique outliers overall (10.0%)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6/23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ALGORITHM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XceptionNet and the CNN-ViT hybrid are the course comparison; ResNet-50 and EfficientNet-B4 were added to test architecture independence.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60704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560320"/>
                <a:gridCol w="2377440"/>
                <a:gridCol w="237744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Pretraining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Input size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ImageNet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299 px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20.8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from scratch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224 px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28.1 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ResNet-50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ImageNet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299 px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23.5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EfficientNet-B4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ImageNet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299 px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17.6 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2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Shared protocol: AdamW, cosine schedule, mixed precision, batch 32 (16 for EfficientNet-B4 to fit 6 GB), early stopping on validation AUC. Video score = mean of frame probabilities.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7/23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Baseline: Same-Distribution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Both models trained and tested on all four manipulation methods (c23).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69848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560320"/>
                <a:gridCol w="2560320"/>
                <a:gridCol w="256032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accuracy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Frame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97.29%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94.71%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0.962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8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XceptionNet leads on every metric. The hybrid's expected advantage did not appear: a negative result, reported as such.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8/23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Cross-Manipulation Generalization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Train on one method, test on all four. Values below 0.5 mean the detector ranks unseen fakes as more real than real faces.</a:t>
            </a:r>
          </a:p>
        </p:txBody>
      </p:sp>
      <p:pic>
        <p:nvPicPr>
          <p:cNvPr id="7" name="Picture 6" descr="cross_manipulation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7483449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97849" y="2286000"/>
            <a:ext cx="3153766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6449" y="2466000"/>
            <a:ext cx="269656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OBSERVATIONS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6449" y="2786000"/>
            <a:ext cx="269656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26449" y="3126000"/>
            <a:ext cx="269656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Xception, Deepfakes → FaceSwap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26449" y="3689700"/>
            <a:ext cx="269656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6449" y="4029700"/>
            <a:ext cx="269656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CNN-ViT, Deepfakes → FaceSwap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6449" y="4593400"/>
            <a:ext cx="269656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0.40 / 0.42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6449" y="4933400"/>
            <a:ext cx="269656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generalization gap, Xception / hybrid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6449" y="5497100"/>
            <a:ext cx="269656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r = 0.94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26449" y="5837100"/>
            <a:ext cx="269656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the two models fail in the same pattern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9/23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Compression Robustness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Tested on a c40 proxy (c23 test videos re-compressed); never trained 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69848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560320"/>
                <a:gridCol w="2743200"/>
                <a:gridCol w="237744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c23 video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c40-proxy video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0.802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0.817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-0.166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8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Both degrade substantially. The hybrid drops slightly less, but on a proxy, not official c40, so this is not claimed as a general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10/23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Grad-CAM: What the Models Look 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Same Deepfakes-trained checkpoint, same video: its Deepfakes version vs. its FaceSwap version.</a:t>
            </a:r>
          </a:p>
        </p:txBody>
      </p:sp>
      <p:pic>
        <p:nvPicPr>
          <p:cNvPr id="7" name="Picture 6" descr="gradca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238103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52503" y="2286000"/>
            <a:ext cx="5399112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1103" y="2466000"/>
            <a:ext cx="494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1103" y="2786000"/>
            <a:ext cx="4941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103" y="3126000"/>
            <a:ext cx="494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in-distribution: attention on the 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1103" y="3689700"/>
            <a:ext cx="4941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Off-face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103" y="4029700"/>
            <a:ext cx="494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FaceSwap: Xception attention collapses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1103" y="4593400"/>
            <a:ext cx="4941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Diffuse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1103" y="4933400"/>
            <a:ext cx="494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FaceSwap: hybrid attention spreads 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1103" y="5497100"/>
            <a:ext cx="4941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103" y="5837100"/>
            <a:ext cx="4941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fake probability on the FaceSwap video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11/23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SOFTWARE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FastAPI backend and browser frontend: upload an image or short video and get a real/fake probability from either trained model.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The demo's pipeline mirrors training exactly: face crop, resize and normalize, per-frame probability, video average.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Verified on held-out test videos never seen in training: correctly classified by XceptionNet; the hybrid is correct but less confident.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On an out-of-distribution image from the internet both models are confidently wrong, a live demonstration of the generalization problem studied next.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12/23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RESEARCH EXTENSION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From a Surprising Result to Four Testable Claims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Why do some cross-manipulation cells score below chance? We tested four claims: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5303520" cy="1874519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30352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6771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C1 · PREPROCESSING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4754880" cy="10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Does the inversion depend on how faces are cropped and stored?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2148840"/>
            <a:ext cx="5303520" cy="1874519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2148840"/>
            <a:ext cx="530352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26771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C2 · MECHANISM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880360"/>
            <a:ext cx="4754880" cy="10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Is there a measurable image cue whose direction predicts which cells invert?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79"/>
            <a:ext cx="5303520" cy="1874519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97679"/>
            <a:ext cx="530352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16551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C3 · INTERVENTION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29199"/>
            <a:ext cx="4754880" cy="10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Does removing that cue during training reduce the inversion?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5352" y="4297679"/>
            <a:ext cx="5303520" cy="1874519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5352" y="4297679"/>
            <a:ext cx="530352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4416551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C4 · ARCHITECTURE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5029199"/>
            <a:ext cx="4754880" cy="10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Do different network architectures fail the same way?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13/23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C1 ·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The Inversion Survives a Full Pipeline Rebuild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Original vs. reference preprocessing (different detector, alignment, format, size, frames). Hatched = below chance.</a:t>
            </a:r>
          </a:p>
        </p:txBody>
      </p:sp>
      <p:pic>
        <p:nvPicPr>
          <p:cNvPr id="7" name="Picture 6" descr="F1_transfer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7615397" cy="3154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29797" y="2286000"/>
            <a:ext cx="3021818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8397" y="24660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REFERENCE PIPELINE, 3 SEEDS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8397" y="2786000"/>
            <a:ext cx="25646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8397" y="31260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DF → FS  [0.21, 0.31]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8397" y="3689700"/>
            <a:ext cx="25646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58397" y="40297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FS → NT  [0.37, 0.49]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58397" y="4593400"/>
            <a:ext cx="25646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8397" y="49334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DF → FS, original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8397" y="5497100"/>
            <a:ext cx="25646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17 / 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8397" y="5837100"/>
            <a:ext cx="2564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data and label audit checks passed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14/23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C1 ·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No Single Preprocessing Change Moves DF → FS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One factor changed at a time, 2 seeds each; change = paired difference vs. the reference over the same test videos.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60704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2011680"/>
                <a:gridCol w="1828800"/>
                <a:gridCol w="201168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Variant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DF → FS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FS → NT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Reference (3 seeds)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JPEG quality 95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0.286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+0.028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0.442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JPEG quality 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10 frames per video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0.271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0.422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-0.006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Tight 1.0× crop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+0.042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84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Predictions were recorded before these results: they held for JPEG 95 and 10 frames, partly missed for JPEG 75, and failed for the tight crop.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15/23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C2 ·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Fakes Differ from Real Faces in Sharpness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High-frequency image energy, each manipulation vs. real faces (Cohen's d, 95% CI), in two independent crop sets.</a:t>
            </a:r>
          </a:p>
        </p:txBody>
      </p:sp>
      <p:pic>
        <p:nvPicPr>
          <p:cNvPr id="7" name="Picture 6" descr="F3_hf_effect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430438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44838" y="2286000"/>
            <a:ext cx="5206777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73438" y="2466000"/>
            <a:ext cx="47495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EFFECT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73438" y="2786000"/>
            <a:ext cx="474957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-0.48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3438" y="3126000"/>
            <a:ext cx="47495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Deepfakes: blurrier than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3438" y="3689700"/>
            <a:ext cx="474957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-0.39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3438" y="4029700"/>
            <a:ext cx="47495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NeuralTextures: blurrier than real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3438" y="4593400"/>
            <a:ext cx="474957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+0.37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3438" y="4933400"/>
            <a:ext cx="47495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FaceSwap: sharper than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3438" y="5497100"/>
            <a:ext cx="474957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-0.01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3438" y="5837100"/>
            <a:ext cx="47495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Face2Face: no difference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16/23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C2 ·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The Sharpness Sign Predicts Which Cells Invert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A detector learns "blurrier = fake" from Deepfakes, so FaceSwap's sharper fakes look real to it.</a:t>
            </a:r>
          </a:p>
        </p:txBody>
      </p:sp>
      <p:pic>
        <p:nvPicPr>
          <p:cNvPr id="7" name="Picture 6" descr="F4_sign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4677704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592104" y="2286000"/>
            <a:ext cx="5959511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20704" y="24660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PREDICTION VS. OBSERVED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0704" y="2786000"/>
            <a:ext cx="55023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ρ = 0.92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0704" y="31260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Xception (best of 24 relabelings)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0704" y="3689700"/>
            <a:ext cx="55023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ρ = 0.92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0704" y="40297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CNN-ViT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0704" y="4593400"/>
            <a:ext cx="55023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ρ = 0.73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0704" y="49334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published official-data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0704" y="5497100"/>
            <a:ext cx="55023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ρ = -0.27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0704" y="5837100"/>
            <a:ext cx="55023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DF model: blurrier real faces look fake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17/23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C3 · INTERVENTION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Randomizing Sharpness Partly Fixes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Training with random blur/sharpen applied to real and fake alike. Paired change vs. the reference, 3 seeds.</a:t>
            </a:r>
          </a:p>
        </p:txBody>
      </p:sp>
      <p:pic>
        <p:nvPicPr>
          <p:cNvPr id="7" name="Picture 6" descr="F5_interv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080955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95355" y="2286000"/>
            <a:ext cx="5556260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3955" y="24660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CHANGE IN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3955" y="2786000"/>
            <a:ext cx="50990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+0.098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955" y="31260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DF → FS, now 0.36 (still below)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3955" y="3689700"/>
            <a:ext cx="50990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+0.093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3955" y="40297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FS → NT, now 0.52 (at chance)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955" y="4593400"/>
            <a:ext cx="50990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-0.048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955" y="49334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FS → F2F, a small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955" y="5497100"/>
            <a:ext cx="50990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-0.000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955" y="5837100"/>
            <a:ext cx="50990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in-domain accuracy unchanged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18/23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Three Architectures Fail the Same 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ImageNet-pretrained backbones, same 299 px input, reference pipeline.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60704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737360"/>
                <a:gridCol w="1737360"/>
                <a:gridCol w="1737360"/>
                <a:gridCol w="237744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DF → FS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FS → NT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FS → DF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Same call as Xception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 (3 seeds)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ResNet-50 (2 seeds)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0.291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0.416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0.450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8 / 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EfficientNet-B4 (2 seeds)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0.264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8 / 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0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Same below / at / above-chance result in every cell. The inversion comes from the training data, not the network.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19/23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EXTERNAL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The Rule Does Not Transfer to a New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DeepFakeFace, no retraining. Its fakes are all blurrier than its real faces, so DF-trained should transfer and FS-trained invert.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78992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3108960"/>
                <a:gridCol w="310896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Generator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Sharpness d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DF-trained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FS-trained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SD inpainting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0.463 [0.44, 0.49]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0.514 [0.49, 0.54]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InsightFace swap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-0.52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0.654 [0.63, 0.68]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0.491 [0.46, 0.52]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SD text-to-image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0.323 [0.30, 0.34]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0.399 [0.38, 0.42]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0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Prediction correct in 2 of 4 decided cells, no better than chance. The sharpness account explains FaceForensics++, not other datasets.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20/23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Verdict on the Four Claims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03520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C1 · PREPROCESSING — NOT SUPPORTED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754880" cy="12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Survives every preprocessing change tested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Detector, alignment, format, size, frames, JPEG, crop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783080"/>
            <a:ext cx="530352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30352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C2 · MECHANISM — SUPPORTED IN FF++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14600"/>
            <a:ext cx="4754880" cy="12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Sharpness sign predicts our and published matrices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Fails on DeepFakeFace: within-benchmark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14800"/>
            <a:ext cx="530352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530352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336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C3 · INTERVENTION — 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4754880" cy="12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Randomizing sharpness: +0.1 AUC on inverted cells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DF → FS still below chance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4114800"/>
            <a:ext cx="5303520" cy="20574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4114800"/>
            <a:ext cx="530352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423367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C4 · ARCHITECTURE — SUPPORTED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846320"/>
            <a:ext cx="4754880" cy="12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Xception, ResNet-50, EfficientNet-B4 agree 8 / 8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Set by the training data, not the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21/23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What This Study Cannot Claim,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303520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303520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754880" cy="33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Kaggle mirror, not official FF++ (access pending)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Mechanism is a strong candidate, not proof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Sharpness predicts direction, not effect size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Course comparison confounded by pretraining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One 6 GB laptop GPU limited the grid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783080"/>
            <a:ext cx="5303520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303520" cy="5029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9019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14600"/>
            <a:ext cx="4754880" cy="33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Re-run on official FaceForensics++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Find the cue behind the remaining DF → FS gap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Explain the DeepFakeFace behaviour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A202C"/>
                </a:solidFill>
                <a:latin typeface="Calibri"/>
              </a:rPr>
              <a:t>▸  Submit a short paper (draft in paper/main.pdf)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22/23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REFERENCES &amp; CONTRIBUTORS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Closing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Rössler et al., FaceForensics++, ICCV 2019 · Chollet, Xception, CVPR 2017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Dosovitskiy et al., Vision Transformer, ICLR 2021 · Selvaraju et al., Grad-CAM, ICCV 2017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Li et al., Face X-ray, CVPR 2020 · Geirhos et al., Shortcut learning, Nat. Mach. Intell. 2020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Durall et al., CVPR 2020 · Frank et al., ICML 2020 · Song et al., DeepFakeFace, arXiv 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CONTRIBUTORS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Venugopalan Gangadharan — CB.AI.U4AID25115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Vipin Sudhakar — CB.AI.U4AID25166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Rithvik Arulprakash — CB.AI.U4AID25148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Harshith Kv — CB.AI.U4AID25119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406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GITHUB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2B8CF"/>
                </a:solidFill>
                <a:latin typeface="Calibri"/>
              </a:rPr>
              <a:t>github.com/DUNE-ODYSSEY/deepfake-detection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End-Semester Review (23AID205)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23/23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